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3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png" ContentType="image/png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9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Click to move the slide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dt" idx="2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ftr" idx="3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6"/>
          <p:cNvSpPr>
            <a:spLocks noGrp="1"/>
          </p:cNvSpPr>
          <p:nvPr>
            <p:ph type="sldNum" idx="4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FE959390-3E78-4E4B-B425-D2FC1451E443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973B8E9-12EE-4924-AF50-5F6281576CE2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02847D9-4404-418A-96B4-A346A7197A74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C3522E9-DEBF-44DB-9520-E97108E477D9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DCE502F-5815-43E1-A5B9-E82278350D4D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B5B1C93-245E-405A-9A84-21FFE1554040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E419A93-E552-4313-B17D-9C211EE11DE7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D77C05E-C146-4E4A-9218-D58B0C750A1E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DCEF9B7-14D9-4A12-AD96-47E43C7AC961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BBB615D-943E-42DF-BFFC-EC4903787A2D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1FE71BB-A666-4DBE-A28F-725F9DC5ECFC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Click to edit the title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400" cy="91080"/>
          </a:xfrm>
          <a:prstGeom prst="rect">
            <a:avLst/>
          </a:prstGeom>
          <a:solidFill>
            <a:srgbClr val="21c4d6"/>
          </a:solidFill>
          <a:ln w="12700">
            <a:solidFill>
              <a:srgbClr val="21c4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Text 1"/>
          <p:cNvSpPr/>
          <p:nvPr/>
        </p:nvSpPr>
        <p:spPr>
          <a:xfrm>
            <a:off x="502920" y="182880"/>
            <a:ext cx="3840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181" strike="noStrike" u="none">
                <a:solidFill>
                  <a:srgbClr val="137b86"/>
                </a:solidFill>
                <a:effectLst/>
                <a:uFillTx/>
                <a:latin typeface="Aptos"/>
                <a:ea typeface="Aptos"/>
              </a:rPr>
              <a:t>SMART ATTENDANCE SYSTEM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Text 2"/>
          <p:cNvSpPr/>
          <p:nvPr/>
        </p:nvSpPr>
        <p:spPr>
          <a:xfrm>
            <a:off x="9784080" y="182880"/>
            <a:ext cx="1874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62747a"/>
                </a:solidFill>
                <a:effectLst/>
                <a:uFillTx/>
                <a:latin typeface="Aptos"/>
                <a:ea typeface="Aptos"/>
              </a:rPr>
              <a:t>DSB &amp; DB PROJECT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Text 3"/>
          <p:cNvSpPr/>
          <p:nvPr/>
        </p:nvSpPr>
        <p:spPr>
          <a:xfrm>
            <a:off x="11658600" y="6464880"/>
            <a:ext cx="1825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9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6" name="PlaceHolder 1"/>
          <p:cNvSpPr>
            <a:spLocks noGrp="1"/>
          </p:cNvSpPr>
          <p:nvPr>
            <p:ph type="sldNum" idx="1"/>
          </p:nvPr>
        </p:nvSpPr>
        <p:spPr>
          <a:xfrm>
            <a:off x="11430000" y="6446520"/>
            <a:ext cx="273960" cy="18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900" strike="noStrike" u="none">
                <a:solidFill>
                  <a:srgbClr val="62747a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8D13BBC-5614-4420-B67E-3BA15234D6AB}" type="slidenum">
              <a:rPr b="0" lang="en-US" sz="900" strike="noStrike" u="none">
                <a:solidFill>
                  <a:srgbClr val="62747a"/>
                </a:solidFill>
                <a:effectLst/>
                <a:uFillTx/>
                <a:latin typeface="Aptos"/>
                <a:ea typeface="Aptos"/>
              </a:rPr>
              <a:t>&lt;number&gt;</a:t>
            </a:fld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Click to edit the title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42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" name="Shape 0"/>
          <p:cNvSpPr/>
          <p:nvPr/>
        </p:nvSpPr>
        <p:spPr>
          <a:xfrm>
            <a:off x="0" y="0"/>
            <a:ext cx="5943240" cy="6857640"/>
          </a:xfrm>
          <a:prstGeom prst="rect">
            <a:avLst/>
          </a:prstGeom>
          <a:solidFill>
            <a:srgbClr val="142428">
              <a:alpha val="93000"/>
            </a:srgbClr>
          </a:solidFill>
          <a:ln w="12700">
            <a:solidFill>
              <a:srgbClr val="142428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Shape 1"/>
          <p:cNvSpPr/>
          <p:nvPr/>
        </p:nvSpPr>
        <p:spPr>
          <a:xfrm>
            <a:off x="658440" y="603360"/>
            <a:ext cx="1599840" cy="310680"/>
          </a:xfrm>
          <a:prstGeom prst="roundRect">
            <a:avLst>
              <a:gd name="adj" fmla="val 17647"/>
            </a:avLst>
          </a:prstGeom>
          <a:solidFill>
            <a:srgbClr val="21c4d6"/>
          </a:solidFill>
          <a:ln w="12700">
            <a:solidFill>
              <a:srgbClr val="21c4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2"/>
          <p:cNvSpPr/>
          <p:nvPr/>
        </p:nvSpPr>
        <p:spPr>
          <a:xfrm>
            <a:off x="731520" y="672120"/>
            <a:ext cx="145368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71" strike="noStrike" u="none">
                <a:solidFill>
                  <a:srgbClr val="142428"/>
                </a:solidFill>
                <a:effectLst/>
                <a:uFillTx/>
                <a:latin typeface="Aptos"/>
              </a:rPr>
              <a:t>DSB &amp; DB PROJECT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3"/>
          <p:cNvSpPr/>
          <p:nvPr/>
        </p:nvSpPr>
        <p:spPr>
          <a:xfrm>
            <a:off x="658440" y="1234440"/>
            <a:ext cx="4663080" cy="141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8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Smart Attendance</a:t>
            </a:r>
            <a:endParaRPr b="0" lang="en-US" sz="3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8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System</a:t>
            </a:r>
            <a:endParaRPr b="0" lang="en-US" sz="3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4"/>
          <p:cNvSpPr/>
          <p:nvPr/>
        </p:nvSpPr>
        <p:spPr>
          <a:xfrm>
            <a:off x="658440" y="2797920"/>
            <a:ext cx="438876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00" strike="noStrike" u="none">
                <a:solidFill>
                  <a:srgbClr val="21c4d6"/>
                </a:solidFill>
                <a:effectLst/>
                <a:uFillTx/>
                <a:latin typeface="Aptos"/>
              </a:rPr>
              <a:t>Using Facial Recognition</a:t>
            </a:r>
            <a:endParaRPr b="0" lang="en-US" sz="2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5"/>
          <p:cNvSpPr/>
          <p:nvPr/>
        </p:nvSpPr>
        <p:spPr>
          <a:xfrm>
            <a:off x="658440" y="3456360"/>
            <a:ext cx="443448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900" strike="noStrike" u="none">
                <a:solidFill>
                  <a:srgbClr val="dde9eb"/>
                </a:solidFill>
                <a:effectLst/>
                <a:uFillTx/>
                <a:latin typeface="Aptos"/>
              </a:rPr>
              <a:t>An Android-based approach to fast, accurate and accountable attendance management.</a:t>
            </a:r>
            <a:endParaRPr b="0" lang="en-US" sz="1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6"/>
          <p:cNvSpPr/>
          <p:nvPr/>
        </p:nvSpPr>
        <p:spPr>
          <a:xfrm>
            <a:off x="658080" y="4754880"/>
            <a:ext cx="4297680" cy="360"/>
          </a:xfrm>
          <a:prstGeom prst="line">
            <a:avLst/>
          </a:prstGeom>
          <a:ln w="12700">
            <a:solidFill>
              <a:srgbClr val="6a85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7"/>
          <p:cNvSpPr/>
          <p:nvPr/>
        </p:nvSpPr>
        <p:spPr>
          <a:xfrm>
            <a:off x="658440" y="4983480"/>
            <a:ext cx="4388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Live camera  →  Face match  →  Attendance record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8"/>
          <p:cNvSpPr/>
          <p:nvPr/>
        </p:nvSpPr>
        <p:spPr>
          <a:xfrm>
            <a:off x="658440" y="6016680"/>
            <a:ext cx="43887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b8c9cd"/>
                </a:solidFill>
                <a:effectLst/>
                <a:uFillTx/>
                <a:latin typeface="Aptos"/>
              </a:rPr>
              <a:t>Presented by Harshitha Bollineni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9"/>
          <p:cNvSpPr/>
          <p:nvPr/>
        </p:nvSpPr>
        <p:spPr>
          <a:xfrm>
            <a:off x="10927080" y="6346080"/>
            <a:ext cx="685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01 / 10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0"/>
          <p:cNvSpPr/>
          <p:nvPr/>
        </p:nvSpPr>
        <p:spPr>
          <a:xfrm>
            <a:off x="502920" y="567000"/>
            <a:ext cx="5025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21c4d6"/>
                </a:solidFill>
                <a:effectLst/>
                <a:uFillTx/>
                <a:latin typeface="Aptos"/>
              </a:rPr>
              <a:t>02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1"/>
          <p:cNvSpPr/>
          <p:nvPr/>
        </p:nvSpPr>
        <p:spPr>
          <a:xfrm>
            <a:off x="1078920" y="484560"/>
            <a:ext cx="99666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193238"/>
                </a:solidFill>
                <a:effectLst/>
                <a:uFillTx/>
                <a:latin typeface="Aptos"/>
              </a:rPr>
              <a:t>Objectives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2"/>
          <p:cNvSpPr/>
          <p:nvPr/>
        </p:nvSpPr>
        <p:spPr>
          <a:xfrm>
            <a:off x="1078920" y="987480"/>
            <a:ext cx="9783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62747a"/>
                </a:solidFill>
                <a:effectLst/>
                <a:uFillTx/>
                <a:latin typeface="Aptos"/>
              </a:rPr>
              <a:t>What the solution is designed to achieve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3"/>
          <p:cNvSpPr/>
          <p:nvPr/>
        </p:nvSpPr>
        <p:spPr>
          <a:xfrm>
            <a:off x="548640" y="1481400"/>
            <a:ext cx="3456000" cy="15998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0160">
            <a:solidFill>
              <a:srgbClr val="d6e2e5"/>
            </a:solidFill>
            <a:round/>
          </a:ln>
          <a:effectLst>
            <a:outerShdw algn="bl" blurRad="38160" dir="2700000" dist="50402" kx="0" ky="0" rotWithShape="0" sx="100000" sy="100000">
              <a:srgbClr val="142428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4"/>
          <p:cNvSpPr/>
          <p:nvPr/>
        </p:nvSpPr>
        <p:spPr>
          <a:xfrm>
            <a:off x="548640" y="1481400"/>
            <a:ext cx="72720" cy="1599840"/>
          </a:xfrm>
          <a:prstGeom prst="rect">
            <a:avLst/>
          </a:prstGeom>
          <a:solidFill>
            <a:srgbClr val="21c4d6"/>
          </a:solidFill>
          <a:ln w="12700">
            <a:solidFill>
              <a:srgbClr val="21c4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5"/>
          <p:cNvSpPr/>
          <p:nvPr/>
        </p:nvSpPr>
        <p:spPr>
          <a:xfrm>
            <a:off x="777240" y="1710000"/>
            <a:ext cx="438480" cy="438480"/>
          </a:xfrm>
          <a:prstGeom prst="ellipse">
            <a:avLst/>
          </a:prstGeom>
          <a:solidFill>
            <a:srgbClr val="21c4d6"/>
          </a:solidFill>
          <a:ln w="12700">
            <a:solidFill>
              <a:srgbClr val="21c4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6"/>
          <p:cNvSpPr/>
          <p:nvPr/>
        </p:nvSpPr>
        <p:spPr>
          <a:xfrm>
            <a:off x="777240" y="1764720"/>
            <a:ext cx="4384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1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7"/>
          <p:cNvSpPr/>
          <p:nvPr/>
        </p:nvSpPr>
        <p:spPr>
          <a:xfrm>
            <a:off x="1353240" y="1700640"/>
            <a:ext cx="24228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193238"/>
                </a:solidFill>
                <a:effectLst/>
                <a:uFillTx/>
                <a:latin typeface="Aptos"/>
              </a:rPr>
              <a:t>Automate attendance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8"/>
          <p:cNvSpPr/>
          <p:nvPr/>
        </p:nvSpPr>
        <p:spPr>
          <a:xfrm>
            <a:off x="777240" y="2194560"/>
            <a:ext cx="299880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50" strike="noStrike" u="none">
                <a:solidFill>
                  <a:srgbClr val="62747a"/>
                </a:solidFill>
                <a:effectLst/>
                <a:uFillTx/>
                <a:latin typeface="Aptos"/>
              </a:rPr>
              <a:t>Replace repetitive manual marking with face-based verification.</a:t>
            </a:r>
            <a:endParaRPr b="0" lang="en-US" sz="14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Shape 9"/>
          <p:cNvSpPr/>
          <p:nvPr/>
        </p:nvSpPr>
        <p:spPr>
          <a:xfrm>
            <a:off x="4370760" y="1481400"/>
            <a:ext cx="3456000" cy="15998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0160">
            <a:solidFill>
              <a:srgbClr val="d6e2e5"/>
            </a:solidFill>
            <a:round/>
          </a:ln>
          <a:effectLst>
            <a:outerShdw algn="bl" blurRad="38160" dir="2700000" dist="50402" kx="0" ky="0" rotWithShape="0" sx="100000" sy="100000">
              <a:srgbClr val="142428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Shape 10"/>
          <p:cNvSpPr/>
          <p:nvPr/>
        </p:nvSpPr>
        <p:spPr>
          <a:xfrm>
            <a:off x="4370760" y="1481400"/>
            <a:ext cx="72720" cy="1599840"/>
          </a:xfrm>
          <a:prstGeom prst="rect">
            <a:avLst/>
          </a:prstGeom>
          <a:solidFill>
            <a:srgbClr val="25a578"/>
          </a:solidFill>
          <a:ln w="12700">
            <a:solidFill>
              <a:srgbClr val="25a57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Shape 11"/>
          <p:cNvSpPr/>
          <p:nvPr/>
        </p:nvSpPr>
        <p:spPr>
          <a:xfrm>
            <a:off x="4599360" y="1710000"/>
            <a:ext cx="438480" cy="438480"/>
          </a:xfrm>
          <a:prstGeom prst="ellipse">
            <a:avLst/>
          </a:prstGeom>
          <a:solidFill>
            <a:srgbClr val="25a578"/>
          </a:solidFill>
          <a:ln w="12700">
            <a:solidFill>
              <a:srgbClr val="25a57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12"/>
          <p:cNvSpPr/>
          <p:nvPr/>
        </p:nvSpPr>
        <p:spPr>
          <a:xfrm>
            <a:off x="4599360" y="1764720"/>
            <a:ext cx="4384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2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13"/>
          <p:cNvSpPr/>
          <p:nvPr/>
        </p:nvSpPr>
        <p:spPr>
          <a:xfrm>
            <a:off x="5175360" y="1700640"/>
            <a:ext cx="24228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193238"/>
                </a:solidFill>
                <a:effectLst/>
                <a:uFillTx/>
                <a:latin typeface="Aptos"/>
              </a:rPr>
              <a:t>Recognize in real time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14"/>
          <p:cNvSpPr/>
          <p:nvPr/>
        </p:nvSpPr>
        <p:spPr>
          <a:xfrm>
            <a:off x="4599360" y="2194560"/>
            <a:ext cx="299880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50" strike="noStrike" u="none">
                <a:solidFill>
                  <a:srgbClr val="62747a"/>
                </a:solidFill>
                <a:effectLst/>
                <a:uFillTx/>
                <a:latin typeface="Aptos"/>
              </a:rPr>
              <a:t>Detect and identify registered users through a live camera.</a:t>
            </a:r>
            <a:endParaRPr b="0" lang="en-US" sz="14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Shape 15"/>
          <p:cNvSpPr/>
          <p:nvPr/>
        </p:nvSpPr>
        <p:spPr>
          <a:xfrm>
            <a:off x="8192880" y="1481400"/>
            <a:ext cx="3456000" cy="15998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0160">
            <a:solidFill>
              <a:srgbClr val="d6e2e5"/>
            </a:solidFill>
            <a:round/>
          </a:ln>
          <a:effectLst>
            <a:outerShdw algn="bl" blurRad="38160" dir="2700000" dist="50402" kx="0" ky="0" rotWithShape="0" sx="100000" sy="100000">
              <a:srgbClr val="142428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Shape 16"/>
          <p:cNvSpPr/>
          <p:nvPr/>
        </p:nvSpPr>
        <p:spPr>
          <a:xfrm>
            <a:off x="8192880" y="1481400"/>
            <a:ext cx="72720" cy="1599840"/>
          </a:xfrm>
          <a:prstGeom prst="rect">
            <a:avLst/>
          </a:prstGeom>
          <a:solidFill>
            <a:srgbClr val="f06f5f"/>
          </a:solidFill>
          <a:ln w="12700">
            <a:solidFill>
              <a:srgbClr val="f06f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Shape 17"/>
          <p:cNvSpPr/>
          <p:nvPr/>
        </p:nvSpPr>
        <p:spPr>
          <a:xfrm>
            <a:off x="8421480" y="1710000"/>
            <a:ext cx="438480" cy="438480"/>
          </a:xfrm>
          <a:prstGeom prst="ellipse">
            <a:avLst/>
          </a:prstGeom>
          <a:solidFill>
            <a:srgbClr val="f06f5f"/>
          </a:solidFill>
          <a:ln w="12700">
            <a:solidFill>
              <a:srgbClr val="f06f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18"/>
          <p:cNvSpPr/>
          <p:nvPr/>
        </p:nvSpPr>
        <p:spPr>
          <a:xfrm>
            <a:off x="8421480" y="1764720"/>
            <a:ext cx="4384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3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19"/>
          <p:cNvSpPr/>
          <p:nvPr/>
        </p:nvSpPr>
        <p:spPr>
          <a:xfrm>
            <a:off x="8997840" y="1700640"/>
            <a:ext cx="24228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193238"/>
                </a:solidFill>
                <a:effectLst/>
                <a:uFillTx/>
                <a:latin typeface="Aptos"/>
              </a:rPr>
              <a:t>Record accurately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20"/>
          <p:cNvSpPr/>
          <p:nvPr/>
        </p:nvSpPr>
        <p:spPr>
          <a:xfrm>
            <a:off x="8421480" y="2194560"/>
            <a:ext cx="299880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50" strike="noStrike" u="none">
                <a:solidFill>
                  <a:srgbClr val="62747a"/>
                </a:solidFill>
                <a:effectLst/>
                <a:uFillTx/>
                <a:latin typeface="Aptos"/>
              </a:rPr>
              <a:t>Store the verified person, date and time automatically.</a:t>
            </a:r>
            <a:endParaRPr b="0" lang="en-US" sz="14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Shape 21"/>
          <p:cNvSpPr/>
          <p:nvPr/>
        </p:nvSpPr>
        <p:spPr>
          <a:xfrm>
            <a:off x="548640" y="3420000"/>
            <a:ext cx="3456000" cy="15998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0160">
            <a:solidFill>
              <a:srgbClr val="d6e2e5"/>
            </a:solidFill>
            <a:round/>
          </a:ln>
          <a:effectLst>
            <a:outerShdw algn="bl" blurRad="38160" dir="2700000" dist="50402" kx="0" ky="0" rotWithShape="0" sx="100000" sy="100000">
              <a:srgbClr val="142428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Shape 22"/>
          <p:cNvSpPr/>
          <p:nvPr/>
        </p:nvSpPr>
        <p:spPr>
          <a:xfrm>
            <a:off x="548640" y="3420000"/>
            <a:ext cx="72720" cy="1599840"/>
          </a:xfrm>
          <a:prstGeom prst="rect">
            <a:avLst/>
          </a:prstGeom>
          <a:solidFill>
            <a:srgbClr val="21c4d6"/>
          </a:solidFill>
          <a:ln w="12700">
            <a:solidFill>
              <a:srgbClr val="21c4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Shape 23"/>
          <p:cNvSpPr/>
          <p:nvPr/>
        </p:nvSpPr>
        <p:spPr>
          <a:xfrm>
            <a:off x="777240" y="3648600"/>
            <a:ext cx="438480" cy="438480"/>
          </a:xfrm>
          <a:prstGeom prst="ellipse">
            <a:avLst/>
          </a:prstGeom>
          <a:solidFill>
            <a:srgbClr val="21c4d6"/>
          </a:solidFill>
          <a:ln w="12700">
            <a:solidFill>
              <a:srgbClr val="21c4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24"/>
          <p:cNvSpPr/>
          <p:nvPr/>
        </p:nvSpPr>
        <p:spPr>
          <a:xfrm>
            <a:off x="777240" y="3703320"/>
            <a:ext cx="4384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4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25"/>
          <p:cNvSpPr/>
          <p:nvPr/>
        </p:nvSpPr>
        <p:spPr>
          <a:xfrm>
            <a:off x="1353240" y="3639240"/>
            <a:ext cx="24228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193238"/>
                </a:solidFill>
                <a:effectLst/>
                <a:uFillTx/>
                <a:latin typeface="Aptos"/>
              </a:rPr>
              <a:t>Reduce errors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26"/>
          <p:cNvSpPr/>
          <p:nvPr/>
        </p:nvSpPr>
        <p:spPr>
          <a:xfrm>
            <a:off x="777240" y="4133160"/>
            <a:ext cx="299880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50" strike="noStrike" u="none">
                <a:solidFill>
                  <a:srgbClr val="62747a"/>
                </a:solidFill>
                <a:effectLst/>
                <a:uFillTx/>
                <a:latin typeface="Aptos"/>
              </a:rPr>
              <a:t>Minimize missed entries, duplicate work and proxy attendance.</a:t>
            </a:r>
            <a:endParaRPr b="0" lang="en-US" sz="14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Shape 27"/>
          <p:cNvSpPr/>
          <p:nvPr/>
        </p:nvSpPr>
        <p:spPr>
          <a:xfrm>
            <a:off x="4370760" y="3420000"/>
            <a:ext cx="3456000" cy="15998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0160">
            <a:solidFill>
              <a:srgbClr val="d6e2e5"/>
            </a:solidFill>
            <a:round/>
          </a:ln>
          <a:effectLst>
            <a:outerShdw algn="bl" blurRad="38160" dir="2700000" dist="50402" kx="0" ky="0" rotWithShape="0" sx="100000" sy="100000">
              <a:srgbClr val="142428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Shape 28"/>
          <p:cNvSpPr/>
          <p:nvPr/>
        </p:nvSpPr>
        <p:spPr>
          <a:xfrm>
            <a:off x="4370760" y="3420000"/>
            <a:ext cx="72720" cy="1599840"/>
          </a:xfrm>
          <a:prstGeom prst="rect">
            <a:avLst/>
          </a:prstGeom>
          <a:solidFill>
            <a:srgbClr val="25a578"/>
          </a:solidFill>
          <a:ln w="12700">
            <a:solidFill>
              <a:srgbClr val="25a57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Shape 29"/>
          <p:cNvSpPr/>
          <p:nvPr/>
        </p:nvSpPr>
        <p:spPr>
          <a:xfrm>
            <a:off x="4599360" y="3648600"/>
            <a:ext cx="438480" cy="438480"/>
          </a:xfrm>
          <a:prstGeom prst="ellipse">
            <a:avLst/>
          </a:prstGeom>
          <a:solidFill>
            <a:srgbClr val="25a578"/>
          </a:solidFill>
          <a:ln w="12700">
            <a:solidFill>
              <a:srgbClr val="25a57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30"/>
          <p:cNvSpPr/>
          <p:nvPr/>
        </p:nvSpPr>
        <p:spPr>
          <a:xfrm>
            <a:off x="4599360" y="3703320"/>
            <a:ext cx="4384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5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31"/>
          <p:cNvSpPr/>
          <p:nvPr/>
        </p:nvSpPr>
        <p:spPr>
          <a:xfrm>
            <a:off x="5175360" y="3639240"/>
            <a:ext cx="24228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193238"/>
                </a:solidFill>
                <a:effectLst/>
                <a:uFillTx/>
                <a:latin typeface="Aptos"/>
              </a:rPr>
              <a:t>Secure &amp; synchronize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32"/>
          <p:cNvSpPr/>
          <p:nvPr/>
        </p:nvSpPr>
        <p:spPr>
          <a:xfrm>
            <a:off x="4599360" y="4133160"/>
            <a:ext cx="299880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50" strike="noStrike" u="none">
                <a:solidFill>
                  <a:srgbClr val="62747a"/>
                </a:solidFill>
                <a:effectLst/>
                <a:uFillTx/>
                <a:latin typeface="Aptos"/>
              </a:rPr>
              <a:t>Maintain user and attendance records in a centralized database.</a:t>
            </a:r>
            <a:endParaRPr b="0" lang="en-US" sz="14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33"/>
          <p:cNvSpPr/>
          <p:nvPr/>
        </p:nvSpPr>
        <p:spPr>
          <a:xfrm>
            <a:off x="8192880" y="3420000"/>
            <a:ext cx="3456000" cy="15998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0160">
            <a:solidFill>
              <a:srgbClr val="d6e2e5"/>
            </a:solidFill>
            <a:round/>
          </a:ln>
          <a:effectLst>
            <a:outerShdw algn="bl" blurRad="38160" dir="2700000" dist="50402" kx="0" ky="0" rotWithShape="0" sx="100000" sy="100000">
              <a:srgbClr val="142428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Shape 34"/>
          <p:cNvSpPr/>
          <p:nvPr/>
        </p:nvSpPr>
        <p:spPr>
          <a:xfrm>
            <a:off x="8192880" y="3420000"/>
            <a:ext cx="72720" cy="1599840"/>
          </a:xfrm>
          <a:prstGeom prst="rect">
            <a:avLst/>
          </a:prstGeom>
          <a:solidFill>
            <a:srgbClr val="f06f5f"/>
          </a:solidFill>
          <a:ln w="12700">
            <a:solidFill>
              <a:srgbClr val="f06f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Shape 35"/>
          <p:cNvSpPr/>
          <p:nvPr/>
        </p:nvSpPr>
        <p:spPr>
          <a:xfrm>
            <a:off x="8421480" y="3648600"/>
            <a:ext cx="438480" cy="438480"/>
          </a:xfrm>
          <a:prstGeom prst="ellipse">
            <a:avLst/>
          </a:prstGeom>
          <a:solidFill>
            <a:srgbClr val="f06f5f"/>
          </a:solidFill>
          <a:ln w="12700">
            <a:solidFill>
              <a:srgbClr val="f06f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36"/>
          <p:cNvSpPr/>
          <p:nvPr/>
        </p:nvSpPr>
        <p:spPr>
          <a:xfrm>
            <a:off x="8421480" y="3703320"/>
            <a:ext cx="4384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6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37"/>
          <p:cNvSpPr/>
          <p:nvPr/>
        </p:nvSpPr>
        <p:spPr>
          <a:xfrm>
            <a:off x="8997840" y="3639240"/>
            <a:ext cx="24228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193238"/>
                </a:solidFill>
                <a:effectLst/>
                <a:uFillTx/>
                <a:latin typeface="Aptos"/>
              </a:rPr>
              <a:t>Enable administration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38"/>
          <p:cNvSpPr/>
          <p:nvPr/>
        </p:nvSpPr>
        <p:spPr>
          <a:xfrm>
            <a:off x="8421480" y="4133160"/>
            <a:ext cx="299880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50" strike="noStrike" u="none">
                <a:solidFill>
                  <a:srgbClr val="62747a"/>
                </a:solidFill>
                <a:effectLst/>
                <a:uFillTx/>
                <a:latin typeface="Aptos"/>
              </a:rPr>
              <a:t>Support user management, monitoring, reports and analytics.</a:t>
            </a:r>
            <a:endParaRPr b="0" lang="en-US" sz="14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39"/>
          <p:cNvSpPr/>
          <p:nvPr/>
        </p:nvSpPr>
        <p:spPr>
          <a:xfrm>
            <a:off x="567000" y="5623560"/>
            <a:ext cx="10512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99" strike="noStrike" u="none">
                <a:solidFill>
                  <a:srgbClr val="137b86"/>
                </a:solidFill>
                <a:effectLst/>
                <a:uFillTx/>
                <a:latin typeface="Aptos"/>
              </a:rPr>
              <a:t>DESIGN GOAL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40"/>
          <p:cNvSpPr/>
          <p:nvPr/>
        </p:nvSpPr>
        <p:spPr>
          <a:xfrm>
            <a:off x="1737360" y="5532120"/>
            <a:ext cx="5120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193238"/>
                </a:solidFill>
                <a:effectLst/>
                <a:uFillTx/>
                <a:latin typeface="Aptos"/>
              </a:rPr>
              <a:t>Efficient  •  Accurate  •  Scalable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41"/>
          <p:cNvSpPr/>
          <p:nvPr/>
        </p:nvSpPr>
        <p:spPr>
          <a:xfrm>
            <a:off x="502920" y="6419160"/>
            <a:ext cx="96008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2747a"/>
                </a:solidFill>
                <a:effectLst/>
                <a:uFillTx/>
                <a:latin typeface="Aptos"/>
              </a:rPr>
              <a:t>Real-time identification • Timestamped records • Centralized reporting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PlaceHolder 1"/>
          <p:cNvSpPr>
            <a:spLocks noGrp="1"/>
          </p:cNvSpPr>
          <p:nvPr>
            <p:ph type="sldNum" idx="5"/>
          </p:nvPr>
        </p:nvSpPr>
        <p:spPr>
          <a:xfrm>
            <a:off x="11430000" y="6446520"/>
            <a:ext cx="273960" cy="18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900" strike="noStrike" u="none">
                <a:solidFill>
                  <a:srgbClr val="62747a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C07E04A-3E8E-4107-A574-E523E61290E8}" type="slidenum">
              <a:rPr b="0" lang="en-US" sz="900" strike="noStrike" u="none">
                <a:solidFill>
                  <a:srgbClr val="62747a"/>
                </a:solidFill>
                <a:effectLst/>
                <a:uFillTx/>
                <a:latin typeface="Aptos"/>
                <a:ea typeface="Aptos"/>
              </a:rPr>
              <a:t>&lt;number&gt;</a:t>
            </a:fld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ext 0"/>
          <p:cNvSpPr/>
          <p:nvPr/>
        </p:nvSpPr>
        <p:spPr>
          <a:xfrm>
            <a:off x="502920" y="567000"/>
            <a:ext cx="5025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21c4d6"/>
                </a:solidFill>
                <a:effectLst/>
                <a:uFillTx/>
                <a:latin typeface="Aptos"/>
              </a:rPr>
              <a:t>03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1"/>
          <p:cNvSpPr/>
          <p:nvPr/>
        </p:nvSpPr>
        <p:spPr>
          <a:xfrm>
            <a:off x="1078920" y="484560"/>
            <a:ext cx="99666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193238"/>
                </a:solidFill>
                <a:effectLst/>
                <a:uFillTx/>
                <a:latin typeface="Aptos"/>
              </a:rPr>
              <a:t>Problem Statement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2"/>
          <p:cNvSpPr/>
          <p:nvPr/>
        </p:nvSpPr>
        <p:spPr>
          <a:xfrm>
            <a:off x="1078920" y="987480"/>
            <a:ext cx="9783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62747a"/>
                </a:solidFill>
                <a:effectLst/>
                <a:uFillTx/>
                <a:latin typeface="Aptos"/>
              </a:rPr>
              <a:t>Manual attendance creates operational friction and weakens record reliability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Shape 3"/>
          <p:cNvSpPr/>
          <p:nvPr/>
        </p:nvSpPr>
        <p:spPr>
          <a:xfrm>
            <a:off x="594360" y="1508760"/>
            <a:ext cx="5028840" cy="4251600"/>
          </a:xfrm>
          <a:prstGeom prst="roundRect">
            <a:avLst>
              <a:gd name="adj" fmla="val 1290"/>
            </a:avLst>
          </a:prstGeom>
          <a:solidFill>
            <a:srgbClr val="142428"/>
          </a:solidFill>
          <a:ln w="12700">
            <a:solidFill>
              <a:srgbClr val="1424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4"/>
          <p:cNvSpPr/>
          <p:nvPr/>
        </p:nvSpPr>
        <p:spPr>
          <a:xfrm>
            <a:off x="914400" y="1828800"/>
            <a:ext cx="2285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130" strike="noStrike" u="none">
                <a:solidFill>
                  <a:srgbClr val="21c4d6"/>
                </a:solidFill>
                <a:effectLst/>
                <a:uFillTx/>
                <a:latin typeface="Aptos"/>
              </a:rPr>
              <a:t>THE CURRENT REALITY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5"/>
          <p:cNvSpPr/>
          <p:nvPr/>
        </p:nvSpPr>
        <p:spPr>
          <a:xfrm>
            <a:off x="914400" y="2331720"/>
            <a:ext cx="3977280" cy="157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9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A simple daily task</a:t>
            </a:r>
            <a:endParaRPr b="0" lang="en-US" sz="2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9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becomes a recurring</a:t>
            </a:r>
            <a:endParaRPr b="0" lang="en-US" sz="2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9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administrative burden.</a:t>
            </a:r>
            <a:endParaRPr b="0" lang="en-US" sz="2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6"/>
          <p:cNvSpPr/>
          <p:nvPr/>
        </p:nvSpPr>
        <p:spPr>
          <a:xfrm>
            <a:off x="914400" y="4316040"/>
            <a:ext cx="39315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700" strike="noStrike" u="none">
                <a:solidFill>
                  <a:srgbClr val="bcd0d4"/>
                </a:solidFill>
                <a:effectLst/>
                <a:uFillTx/>
                <a:latin typeface="Aptos"/>
              </a:rPr>
              <a:t>The challenge grows with every additional class, employee, register and reporting period.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7"/>
          <p:cNvSpPr/>
          <p:nvPr/>
        </p:nvSpPr>
        <p:spPr>
          <a:xfrm>
            <a:off x="5989320" y="1508760"/>
            <a:ext cx="5440320" cy="877320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 w="10160">
            <a:solidFill>
              <a:srgbClr val="d6e2e5"/>
            </a:solidFill>
            <a:round/>
          </a:ln>
          <a:effectLst>
            <a:outerShdw algn="bl" blurRad="38160" dir="2700000" dist="50402" kx="0" ky="0" rotWithShape="0" sx="100000" sy="100000">
              <a:srgbClr val="142428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Shape 8"/>
          <p:cNvSpPr/>
          <p:nvPr/>
        </p:nvSpPr>
        <p:spPr>
          <a:xfrm>
            <a:off x="5989320" y="1508760"/>
            <a:ext cx="72720" cy="877320"/>
          </a:xfrm>
          <a:prstGeom prst="rect">
            <a:avLst/>
          </a:prstGeom>
          <a:solidFill>
            <a:srgbClr val="21c4d6"/>
          </a:solidFill>
          <a:ln w="12700">
            <a:solidFill>
              <a:srgbClr val="21c4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9"/>
          <p:cNvSpPr/>
          <p:nvPr/>
        </p:nvSpPr>
        <p:spPr>
          <a:xfrm>
            <a:off x="6217920" y="1728360"/>
            <a:ext cx="49831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193238"/>
                </a:solidFill>
                <a:effectLst/>
                <a:uFillTx/>
                <a:latin typeface="Aptos"/>
              </a:rPr>
              <a:t>Time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10"/>
          <p:cNvSpPr/>
          <p:nvPr/>
        </p:nvSpPr>
        <p:spPr>
          <a:xfrm>
            <a:off x="6217920" y="2213280"/>
            <a:ext cx="4983120" cy="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 fontScale="25000" lnSpcReduction="1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50" strike="noStrike" u="none">
                <a:solidFill>
                  <a:srgbClr val="62747a"/>
                </a:solidFill>
                <a:effectLst/>
                <a:uFillTx/>
                <a:latin typeface="Aptos"/>
              </a:rPr>
              <a:t>Calling names and entering data delays sessions.</a:t>
            </a:r>
            <a:endParaRPr b="0" lang="en-US" sz="14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Shape 11"/>
          <p:cNvSpPr/>
          <p:nvPr/>
        </p:nvSpPr>
        <p:spPr>
          <a:xfrm>
            <a:off x="5989320" y="2578680"/>
            <a:ext cx="5440320" cy="877320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 w="10160">
            <a:solidFill>
              <a:srgbClr val="d6e2e5"/>
            </a:solidFill>
            <a:round/>
          </a:ln>
          <a:effectLst>
            <a:outerShdw algn="bl" blurRad="38160" dir="2700000" dist="50402" kx="0" ky="0" rotWithShape="0" sx="100000" sy="100000">
              <a:srgbClr val="142428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Shape 12"/>
          <p:cNvSpPr/>
          <p:nvPr/>
        </p:nvSpPr>
        <p:spPr>
          <a:xfrm>
            <a:off x="5989320" y="2578680"/>
            <a:ext cx="72720" cy="877320"/>
          </a:xfrm>
          <a:prstGeom prst="rect">
            <a:avLst/>
          </a:prstGeom>
          <a:solidFill>
            <a:srgbClr val="f06f5f"/>
          </a:solidFill>
          <a:ln w="12700">
            <a:solidFill>
              <a:srgbClr val="f06f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13"/>
          <p:cNvSpPr/>
          <p:nvPr/>
        </p:nvSpPr>
        <p:spPr>
          <a:xfrm>
            <a:off x="6217920" y="2797920"/>
            <a:ext cx="49831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193238"/>
                </a:solidFill>
                <a:effectLst/>
                <a:uFillTx/>
                <a:latin typeface="Aptos"/>
              </a:rPr>
              <a:t>Accuracy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14"/>
          <p:cNvSpPr/>
          <p:nvPr/>
        </p:nvSpPr>
        <p:spPr>
          <a:xfrm>
            <a:off x="6217920" y="3283200"/>
            <a:ext cx="4983120" cy="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 fontScale="25000" lnSpcReduction="1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50" strike="noStrike" u="none">
                <a:solidFill>
                  <a:srgbClr val="62747a"/>
                </a:solidFill>
                <a:effectLst/>
                <a:uFillTx/>
                <a:latin typeface="Aptos"/>
              </a:rPr>
              <a:t>Human error produces missing or inconsistent records.</a:t>
            </a:r>
            <a:endParaRPr b="0" lang="en-US" sz="14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Shape 15"/>
          <p:cNvSpPr/>
          <p:nvPr/>
        </p:nvSpPr>
        <p:spPr>
          <a:xfrm>
            <a:off x="5989320" y="3648600"/>
            <a:ext cx="5440320" cy="877320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 w="10160">
            <a:solidFill>
              <a:srgbClr val="d6e2e5"/>
            </a:solidFill>
            <a:round/>
          </a:ln>
          <a:effectLst>
            <a:outerShdw algn="bl" blurRad="38160" dir="2700000" dist="50402" kx="0" ky="0" rotWithShape="0" sx="100000" sy="100000">
              <a:srgbClr val="142428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Shape 16"/>
          <p:cNvSpPr/>
          <p:nvPr/>
        </p:nvSpPr>
        <p:spPr>
          <a:xfrm>
            <a:off x="5989320" y="3648600"/>
            <a:ext cx="72720" cy="877320"/>
          </a:xfrm>
          <a:prstGeom prst="rect">
            <a:avLst/>
          </a:prstGeom>
          <a:solidFill>
            <a:srgbClr val="21c4d6"/>
          </a:solidFill>
          <a:ln w="12700">
            <a:solidFill>
              <a:srgbClr val="21c4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17"/>
          <p:cNvSpPr/>
          <p:nvPr/>
        </p:nvSpPr>
        <p:spPr>
          <a:xfrm>
            <a:off x="6217920" y="3867840"/>
            <a:ext cx="49831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193238"/>
                </a:solidFill>
                <a:effectLst/>
                <a:uFillTx/>
                <a:latin typeface="Aptos"/>
              </a:rPr>
              <a:t>Scale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18"/>
          <p:cNvSpPr/>
          <p:nvPr/>
        </p:nvSpPr>
        <p:spPr>
          <a:xfrm>
            <a:off x="6217920" y="4353120"/>
            <a:ext cx="4983120" cy="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 fontScale="25000" lnSpcReduction="1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50" strike="noStrike" u="none">
                <a:solidFill>
                  <a:srgbClr val="62747a"/>
                </a:solidFill>
                <a:effectLst/>
                <a:uFillTx/>
                <a:latin typeface="Aptos"/>
              </a:rPr>
              <a:t>Large groups make verification and follow-up difficult.</a:t>
            </a:r>
            <a:endParaRPr b="0" lang="en-US" sz="14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Shape 19"/>
          <p:cNvSpPr/>
          <p:nvPr/>
        </p:nvSpPr>
        <p:spPr>
          <a:xfrm>
            <a:off x="5989320" y="4718160"/>
            <a:ext cx="5440320" cy="877320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 w="10160">
            <a:solidFill>
              <a:srgbClr val="d6e2e5"/>
            </a:solidFill>
            <a:round/>
          </a:ln>
          <a:effectLst>
            <a:outerShdw algn="bl" blurRad="38160" dir="2700000" dist="50402" kx="0" ky="0" rotWithShape="0" sx="100000" sy="100000">
              <a:srgbClr val="142428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Shape 20"/>
          <p:cNvSpPr/>
          <p:nvPr/>
        </p:nvSpPr>
        <p:spPr>
          <a:xfrm>
            <a:off x="5989320" y="4718160"/>
            <a:ext cx="72720" cy="877320"/>
          </a:xfrm>
          <a:prstGeom prst="rect">
            <a:avLst/>
          </a:prstGeom>
          <a:solidFill>
            <a:srgbClr val="21c4d6"/>
          </a:solidFill>
          <a:ln w="12700">
            <a:solidFill>
              <a:srgbClr val="21c4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21"/>
          <p:cNvSpPr/>
          <p:nvPr/>
        </p:nvSpPr>
        <p:spPr>
          <a:xfrm>
            <a:off x="6217920" y="4937760"/>
            <a:ext cx="49831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193238"/>
                </a:solidFill>
                <a:effectLst/>
                <a:uFillTx/>
                <a:latin typeface="Aptos"/>
              </a:rPr>
              <a:t>Control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22"/>
          <p:cNvSpPr/>
          <p:nvPr/>
        </p:nvSpPr>
        <p:spPr>
          <a:xfrm>
            <a:off x="6217920" y="5423040"/>
            <a:ext cx="4983120" cy="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 fontScale="25000" lnSpcReduction="1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50" strike="noStrike" u="none">
                <a:solidFill>
                  <a:srgbClr val="62747a"/>
                </a:solidFill>
                <a:effectLst/>
                <a:uFillTx/>
                <a:latin typeface="Aptos"/>
              </a:rPr>
              <a:t>Paper and spreadsheets limit monitoring and auditability.</a:t>
            </a:r>
            <a:endParaRPr b="0" lang="en-US" sz="14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23"/>
          <p:cNvSpPr/>
          <p:nvPr/>
        </p:nvSpPr>
        <p:spPr>
          <a:xfrm>
            <a:off x="502920" y="6419160"/>
            <a:ext cx="96008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2747a"/>
                </a:solidFill>
                <a:effectLst/>
                <a:uFillTx/>
                <a:latin typeface="Aptos"/>
              </a:rPr>
              <a:t>Need: a reliable digital process that identifies people and records attendance automatically.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PlaceHolder 1"/>
          <p:cNvSpPr>
            <a:spLocks noGrp="1"/>
          </p:cNvSpPr>
          <p:nvPr>
            <p:ph type="sldNum" idx="6"/>
          </p:nvPr>
        </p:nvSpPr>
        <p:spPr>
          <a:xfrm>
            <a:off x="11430000" y="6446520"/>
            <a:ext cx="273960" cy="18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900" strike="noStrike" u="none">
                <a:solidFill>
                  <a:srgbClr val="62747a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67E4B93-A479-4D70-A4BF-396B26ADEDC5}" type="slidenum">
              <a:rPr b="0" lang="en-US" sz="900" strike="noStrike" u="none">
                <a:solidFill>
                  <a:srgbClr val="62747a"/>
                </a:solidFill>
                <a:effectLst/>
                <a:uFillTx/>
                <a:latin typeface="Aptos"/>
                <a:ea typeface="Aptos"/>
              </a:rPr>
              <a:t>&lt;number&gt;</a:t>
            </a:fld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ext 0"/>
          <p:cNvSpPr/>
          <p:nvPr/>
        </p:nvSpPr>
        <p:spPr>
          <a:xfrm>
            <a:off x="502920" y="567000"/>
            <a:ext cx="5025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21c4d6"/>
                </a:solidFill>
                <a:effectLst/>
                <a:uFillTx/>
                <a:latin typeface="Aptos"/>
              </a:rPr>
              <a:t>04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1"/>
          <p:cNvSpPr/>
          <p:nvPr/>
        </p:nvSpPr>
        <p:spPr>
          <a:xfrm>
            <a:off x="1078920" y="484560"/>
            <a:ext cx="99666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193238"/>
                </a:solidFill>
                <a:effectLst/>
                <a:uFillTx/>
                <a:latin typeface="Aptos"/>
              </a:rPr>
              <a:t>Existing System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2"/>
          <p:cNvSpPr/>
          <p:nvPr/>
        </p:nvSpPr>
        <p:spPr>
          <a:xfrm>
            <a:off x="1078920" y="987480"/>
            <a:ext cx="9783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62747a"/>
                </a:solidFill>
                <a:effectLst/>
                <a:uFillTx/>
                <a:latin typeface="Aptos"/>
              </a:rPr>
              <a:t>Typical manual workflow and its practical limitations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Shape 3"/>
          <p:cNvSpPr/>
          <p:nvPr/>
        </p:nvSpPr>
        <p:spPr>
          <a:xfrm>
            <a:off x="594360" y="1600200"/>
            <a:ext cx="2331360" cy="102384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9050">
            <a:solidFill>
              <a:srgbClr val="137b86"/>
            </a:solidFill>
            <a:round/>
          </a:ln>
          <a:effectLst>
            <a:outerShdw algn="bl" blurRad="38160" dir="2700000" dist="50402" kx="0" ky="0" rotWithShape="0" sx="100000" sy="100000">
              <a:srgbClr val="142428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Shape 4"/>
          <p:cNvSpPr/>
          <p:nvPr/>
        </p:nvSpPr>
        <p:spPr>
          <a:xfrm>
            <a:off x="740520" y="1801440"/>
            <a:ext cx="347040" cy="347040"/>
          </a:xfrm>
          <a:prstGeom prst="ellipse">
            <a:avLst/>
          </a:prstGeom>
          <a:solidFill>
            <a:srgbClr val="137b86"/>
          </a:solidFill>
          <a:ln w="12700">
            <a:solidFill>
              <a:srgbClr val="137b8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5"/>
          <p:cNvSpPr/>
          <p:nvPr/>
        </p:nvSpPr>
        <p:spPr>
          <a:xfrm>
            <a:off x="740520" y="1847160"/>
            <a:ext cx="34704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✓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6"/>
          <p:cNvSpPr/>
          <p:nvPr/>
        </p:nvSpPr>
        <p:spPr>
          <a:xfrm>
            <a:off x="1161360" y="1764720"/>
            <a:ext cx="1636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93238"/>
                </a:solidFill>
                <a:effectLst/>
                <a:uFillTx/>
                <a:latin typeface="Aptos"/>
              </a:rPr>
              <a:t>Call / sign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7"/>
          <p:cNvSpPr/>
          <p:nvPr/>
        </p:nvSpPr>
        <p:spPr>
          <a:xfrm>
            <a:off x="1161360" y="2075760"/>
            <a:ext cx="16365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62747a"/>
                </a:solidFill>
                <a:effectLst/>
                <a:uFillTx/>
                <a:latin typeface="Aptos"/>
              </a:rPr>
              <a:t>Teacher calls names or circulates a register.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Shape 8"/>
          <p:cNvSpPr/>
          <p:nvPr/>
        </p:nvSpPr>
        <p:spPr>
          <a:xfrm>
            <a:off x="2971800" y="1965960"/>
            <a:ext cx="310680" cy="273960"/>
          </a:xfrm>
          <a:prstGeom prst="chevron">
            <a:avLst>
              <a:gd name="adj" fmla="val 50000"/>
            </a:avLst>
          </a:prstGeom>
          <a:solidFill>
            <a:srgbClr val="21c4d6"/>
          </a:solidFill>
          <a:ln w="12700">
            <a:solidFill>
              <a:srgbClr val="21c4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Shape 9"/>
          <p:cNvSpPr/>
          <p:nvPr/>
        </p:nvSpPr>
        <p:spPr>
          <a:xfrm>
            <a:off x="3429000" y="1600200"/>
            <a:ext cx="2331360" cy="102384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9050">
            <a:solidFill>
              <a:srgbClr val="137b86"/>
            </a:solidFill>
            <a:round/>
          </a:ln>
          <a:effectLst>
            <a:outerShdw algn="bl" blurRad="38160" dir="2700000" dist="50402" kx="0" ky="0" rotWithShape="0" sx="100000" sy="100000">
              <a:srgbClr val="142428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Shape 10"/>
          <p:cNvSpPr/>
          <p:nvPr/>
        </p:nvSpPr>
        <p:spPr>
          <a:xfrm>
            <a:off x="3575160" y="1801440"/>
            <a:ext cx="347040" cy="347040"/>
          </a:xfrm>
          <a:prstGeom prst="ellipse">
            <a:avLst/>
          </a:prstGeom>
          <a:solidFill>
            <a:srgbClr val="137b86"/>
          </a:solidFill>
          <a:ln w="12700">
            <a:solidFill>
              <a:srgbClr val="137b8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11"/>
          <p:cNvSpPr/>
          <p:nvPr/>
        </p:nvSpPr>
        <p:spPr>
          <a:xfrm>
            <a:off x="3575160" y="1847160"/>
            <a:ext cx="34704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✓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12"/>
          <p:cNvSpPr/>
          <p:nvPr/>
        </p:nvSpPr>
        <p:spPr>
          <a:xfrm>
            <a:off x="3996000" y="1764720"/>
            <a:ext cx="1636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93238"/>
                </a:solidFill>
                <a:effectLst/>
                <a:uFillTx/>
                <a:latin typeface="Aptos"/>
              </a:rPr>
              <a:t>Transcribe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13"/>
          <p:cNvSpPr/>
          <p:nvPr/>
        </p:nvSpPr>
        <p:spPr>
          <a:xfrm>
            <a:off x="3996000" y="2075760"/>
            <a:ext cx="16365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62747a"/>
                </a:solidFill>
                <a:effectLst/>
                <a:uFillTx/>
                <a:latin typeface="Aptos"/>
              </a:rPr>
              <a:t>Records move to paper sheets or spreadsheets.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Shape 14"/>
          <p:cNvSpPr/>
          <p:nvPr/>
        </p:nvSpPr>
        <p:spPr>
          <a:xfrm>
            <a:off x="5806440" y="1965960"/>
            <a:ext cx="310680" cy="273960"/>
          </a:xfrm>
          <a:prstGeom prst="chevron">
            <a:avLst>
              <a:gd name="adj" fmla="val 50000"/>
            </a:avLst>
          </a:prstGeom>
          <a:solidFill>
            <a:srgbClr val="21c4d6"/>
          </a:solidFill>
          <a:ln w="12700">
            <a:solidFill>
              <a:srgbClr val="21c4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Shape 15"/>
          <p:cNvSpPr/>
          <p:nvPr/>
        </p:nvSpPr>
        <p:spPr>
          <a:xfrm>
            <a:off x="6263640" y="1600200"/>
            <a:ext cx="2331360" cy="102384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9050">
            <a:solidFill>
              <a:srgbClr val="137b86"/>
            </a:solidFill>
            <a:round/>
          </a:ln>
          <a:effectLst>
            <a:outerShdw algn="bl" blurRad="38160" dir="2700000" dist="50402" kx="0" ky="0" rotWithShape="0" sx="100000" sy="100000">
              <a:srgbClr val="142428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Shape 16"/>
          <p:cNvSpPr/>
          <p:nvPr/>
        </p:nvSpPr>
        <p:spPr>
          <a:xfrm>
            <a:off x="6409800" y="1801440"/>
            <a:ext cx="347040" cy="347040"/>
          </a:xfrm>
          <a:prstGeom prst="ellipse">
            <a:avLst/>
          </a:prstGeom>
          <a:solidFill>
            <a:srgbClr val="137b86"/>
          </a:solidFill>
          <a:ln w="12700">
            <a:solidFill>
              <a:srgbClr val="137b8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17"/>
          <p:cNvSpPr/>
          <p:nvPr/>
        </p:nvSpPr>
        <p:spPr>
          <a:xfrm>
            <a:off x="6409800" y="1847160"/>
            <a:ext cx="34704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✓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18"/>
          <p:cNvSpPr/>
          <p:nvPr/>
        </p:nvSpPr>
        <p:spPr>
          <a:xfrm>
            <a:off x="6830640" y="1764720"/>
            <a:ext cx="1636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93238"/>
                </a:solidFill>
                <a:effectLst/>
                <a:uFillTx/>
                <a:latin typeface="Aptos"/>
              </a:rPr>
              <a:t>Verify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19"/>
          <p:cNvSpPr/>
          <p:nvPr/>
        </p:nvSpPr>
        <p:spPr>
          <a:xfrm>
            <a:off x="6830640" y="2075760"/>
            <a:ext cx="16365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62747a"/>
                </a:solidFill>
                <a:effectLst/>
                <a:uFillTx/>
                <a:latin typeface="Aptos"/>
              </a:rPr>
              <a:t>Missing entries and disputes are checked manually.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Shape 20"/>
          <p:cNvSpPr/>
          <p:nvPr/>
        </p:nvSpPr>
        <p:spPr>
          <a:xfrm>
            <a:off x="8641080" y="1965960"/>
            <a:ext cx="310680" cy="273960"/>
          </a:xfrm>
          <a:prstGeom prst="chevron">
            <a:avLst>
              <a:gd name="adj" fmla="val 50000"/>
            </a:avLst>
          </a:prstGeom>
          <a:solidFill>
            <a:srgbClr val="21c4d6"/>
          </a:solidFill>
          <a:ln w="12700">
            <a:solidFill>
              <a:srgbClr val="21c4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21"/>
          <p:cNvSpPr/>
          <p:nvPr/>
        </p:nvSpPr>
        <p:spPr>
          <a:xfrm>
            <a:off x="9098280" y="1600200"/>
            <a:ext cx="2331360" cy="102384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9050">
            <a:solidFill>
              <a:srgbClr val="f06f5f"/>
            </a:solidFill>
            <a:round/>
          </a:ln>
          <a:effectLst>
            <a:outerShdw algn="bl" blurRad="38160" dir="2700000" dist="50402" kx="0" ky="0" rotWithShape="0" sx="100000" sy="100000">
              <a:srgbClr val="142428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Shape 22"/>
          <p:cNvSpPr/>
          <p:nvPr/>
        </p:nvSpPr>
        <p:spPr>
          <a:xfrm>
            <a:off x="9244440" y="1801440"/>
            <a:ext cx="347040" cy="347040"/>
          </a:xfrm>
          <a:prstGeom prst="ellipse">
            <a:avLst/>
          </a:prstGeom>
          <a:solidFill>
            <a:srgbClr val="f06f5f"/>
          </a:solidFill>
          <a:ln w="12700">
            <a:solidFill>
              <a:srgbClr val="f06f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23"/>
          <p:cNvSpPr/>
          <p:nvPr/>
        </p:nvSpPr>
        <p:spPr>
          <a:xfrm>
            <a:off x="9244440" y="1847160"/>
            <a:ext cx="34704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✓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24"/>
          <p:cNvSpPr/>
          <p:nvPr/>
        </p:nvSpPr>
        <p:spPr>
          <a:xfrm>
            <a:off x="9665280" y="1764720"/>
            <a:ext cx="1636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93238"/>
                </a:solidFill>
                <a:effectLst/>
                <a:uFillTx/>
                <a:latin typeface="Aptos"/>
              </a:rPr>
              <a:t>Report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25"/>
          <p:cNvSpPr/>
          <p:nvPr/>
        </p:nvSpPr>
        <p:spPr>
          <a:xfrm>
            <a:off x="9665280" y="2075760"/>
            <a:ext cx="16365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62747a"/>
                </a:solidFill>
                <a:effectLst/>
                <a:uFillTx/>
                <a:latin typeface="Aptos"/>
              </a:rPr>
              <a:t>Totals and percentages are prepared later.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26"/>
          <p:cNvSpPr/>
          <p:nvPr/>
        </p:nvSpPr>
        <p:spPr>
          <a:xfrm>
            <a:off x="621720" y="3063240"/>
            <a:ext cx="4388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193238"/>
                </a:solidFill>
                <a:effectLst/>
                <a:uFillTx/>
                <a:latin typeface="Aptos"/>
              </a:rPr>
              <a:t>Where the process breaks down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Shape 27"/>
          <p:cNvSpPr/>
          <p:nvPr/>
        </p:nvSpPr>
        <p:spPr>
          <a:xfrm>
            <a:off x="621720" y="3657600"/>
            <a:ext cx="3428640" cy="71280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6e2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28"/>
          <p:cNvSpPr/>
          <p:nvPr/>
        </p:nvSpPr>
        <p:spPr>
          <a:xfrm>
            <a:off x="786240" y="3776400"/>
            <a:ext cx="10054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71" strike="noStrike" u="none">
                <a:solidFill>
                  <a:srgbClr val="137b86"/>
                </a:solidFill>
                <a:effectLst/>
                <a:uFillTx/>
                <a:latin typeface="Aptos"/>
              </a:rPr>
              <a:t>SLOW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29"/>
          <p:cNvSpPr/>
          <p:nvPr/>
        </p:nvSpPr>
        <p:spPr>
          <a:xfrm>
            <a:off x="1792080" y="3749040"/>
            <a:ext cx="20296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193238"/>
                </a:solidFill>
                <a:effectLst/>
                <a:uFillTx/>
                <a:latin typeface="Aptos"/>
              </a:rPr>
              <a:t>Repeated every session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Shape 30"/>
          <p:cNvSpPr/>
          <p:nvPr/>
        </p:nvSpPr>
        <p:spPr>
          <a:xfrm>
            <a:off x="4389120" y="3657600"/>
            <a:ext cx="3428640" cy="71280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6e2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31"/>
          <p:cNvSpPr/>
          <p:nvPr/>
        </p:nvSpPr>
        <p:spPr>
          <a:xfrm>
            <a:off x="4553640" y="3776400"/>
            <a:ext cx="10054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71" strike="noStrike" u="none">
                <a:solidFill>
                  <a:srgbClr val="137b86"/>
                </a:solidFill>
                <a:effectLst/>
                <a:uFillTx/>
                <a:latin typeface="Aptos"/>
              </a:rPr>
              <a:t>ERROR-PRONE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32"/>
          <p:cNvSpPr/>
          <p:nvPr/>
        </p:nvSpPr>
        <p:spPr>
          <a:xfrm>
            <a:off x="5559480" y="3749040"/>
            <a:ext cx="20296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193238"/>
                </a:solidFill>
                <a:effectLst/>
                <a:uFillTx/>
                <a:latin typeface="Aptos"/>
              </a:rPr>
              <a:t>Missed or incorrect entries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Shape 33"/>
          <p:cNvSpPr/>
          <p:nvPr/>
        </p:nvSpPr>
        <p:spPr>
          <a:xfrm>
            <a:off x="8156520" y="3657600"/>
            <a:ext cx="3428640" cy="712800"/>
          </a:xfrm>
          <a:prstGeom prst="roundRect">
            <a:avLst>
              <a:gd name="adj" fmla="val 5128"/>
            </a:avLst>
          </a:prstGeom>
          <a:solidFill>
            <a:srgbClr val="fdece9"/>
          </a:solidFill>
          <a:ln w="12700">
            <a:solidFill>
              <a:srgbClr val="f06f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34"/>
          <p:cNvSpPr/>
          <p:nvPr/>
        </p:nvSpPr>
        <p:spPr>
          <a:xfrm>
            <a:off x="8321040" y="3776400"/>
            <a:ext cx="10054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71" strike="noStrike" u="none">
                <a:solidFill>
                  <a:srgbClr val="f06f5f"/>
                </a:solidFill>
                <a:effectLst/>
                <a:uFillTx/>
                <a:latin typeface="Aptos"/>
              </a:rPr>
              <a:t>PROXY RISK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35"/>
          <p:cNvSpPr/>
          <p:nvPr/>
        </p:nvSpPr>
        <p:spPr>
          <a:xfrm>
            <a:off x="9326880" y="3749040"/>
            <a:ext cx="20296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193238"/>
                </a:solidFill>
                <a:effectLst/>
                <a:uFillTx/>
                <a:latin typeface="Aptos"/>
              </a:rPr>
              <a:t>Identity is not reliably verified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Shape 36"/>
          <p:cNvSpPr/>
          <p:nvPr/>
        </p:nvSpPr>
        <p:spPr>
          <a:xfrm>
            <a:off x="621720" y="4617720"/>
            <a:ext cx="3428640" cy="71280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6e2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37"/>
          <p:cNvSpPr/>
          <p:nvPr/>
        </p:nvSpPr>
        <p:spPr>
          <a:xfrm>
            <a:off x="786240" y="4736520"/>
            <a:ext cx="10054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71" strike="noStrike" u="none">
                <a:solidFill>
                  <a:srgbClr val="137b86"/>
                </a:solidFill>
                <a:effectLst/>
                <a:uFillTx/>
                <a:latin typeface="Aptos"/>
              </a:rPr>
              <a:t>FRAGMENTED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38"/>
          <p:cNvSpPr/>
          <p:nvPr/>
        </p:nvSpPr>
        <p:spPr>
          <a:xfrm>
            <a:off x="1792080" y="4709160"/>
            <a:ext cx="20296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193238"/>
                </a:solidFill>
                <a:effectLst/>
                <a:uFillTx/>
                <a:latin typeface="Aptos"/>
              </a:rPr>
              <a:t>Paper and files are hard to track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Shape 39"/>
          <p:cNvSpPr/>
          <p:nvPr/>
        </p:nvSpPr>
        <p:spPr>
          <a:xfrm>
            <a:off x="4389120" y="4617720"/>
            <a:ext cx="3428640" cy="71280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6e2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40"/>
          <p:cNvSpPr/>
          <p:nvPr/>
        </p:nvSpPr>
        <p:spPr>
          <a:xfrm>
            <a:off x="4553640" y="4736520"/>
            <a:ext cx="10054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71" strike="noStrike" u="none">
                <a:solidFill>
                  <a:srgbClr val="137b86"/>
                </a:solidFill>
                <a:effectLst/>
                <a:uFillTx/>
                <a:latin typeface="Aptos"/>
              </a:rPr>
              <a:t>DELAYED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41"/>
          <p:cNvSpPr/>
          <p:nvPr/>
        </p:nvSpPr>
        <p:spPr>
          <a:xfrm>
            <a:off x="5559480" y="4709160"/>
            <a:ext cx="20296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193238"/>
                </a:solidFill>
                <a:effectLst/>
                <a:uFillTx/>
                <a:latin typeface="Aptos"/>
              </a:rPr>
              <a:t>No live attendance view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Shape 42"/>
          <p:cNvSpPr/>
          <p:nvPr/>
        </p:nvSpPr>
        <p:spPr>
          <a:xfrm>
            <a:off x="8156520" y="4617720"/>
            <a:ext cx="3428640" cy="71280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6e2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43"/>
          <p:cNvSpPr/>
          <p:nvPr/>
        </p:nvSpPr>
        <p:spPr>
          <a:xfrm>
            <a:off x="8321040" y="4736520"/>
            <a:ext cx="10054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71" strike="noStrike" u="none">
                <a:solidFill>
                  <a:srgbClr val="137b86"/>
                </a:solidFill>
                <a:effectLst/>
                <a:uFillTx/>
                <a:latin typeface="Aptos"/>
              </a:rPr>
              <a:t>MANUAL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44"/>
          <p:cNvSpPr/>
          <p:nvPr/>
        </p:nvSpPr>
        <p:spPr>
          <a:xfrm>
            <a:off x="9326880" y="4709160"/>
            <a:ext cx="20296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193238"/>
                </a:solidFill>
                <a:effectLst/>
                <a:uFillTx/>
                <a:latin typeface="Aptos"/>
              </a:rPr>
              <a:t>Reports require extra effort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45"/>
          <p:cNvSpPr/>
          <p:nvPr/>
        </p:nvSpPr>
        <p:spPr>
          <a:xfrm>
            <a:off x="502920" y="6419160"/>
            <a:ext cx="96008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2747a"/>
                </a:solidFill>
                <a:effectLst/>
                <a:uFillTx/>
                <a:latin typeface="Aptos"/>
              </a:rPr>
              <a:t>Manual identity confirmation is the central weakness.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PlaceHolder 1"/>
          <p:cNvSpPr>
            <a:spLocks noGrp="1"/>
          </p:cNvSpPr>
          <p:nvPr>
            <p:ph type="sldNum" idx="7"/>
          </p:nvPr>
        </p:nvSpPr>
        <p:spPr>
          <a:xfrm>
            <a:off x="11430000" y="6446520"/>
            <a:ext cx="273960" cy="18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900" strike="noStrike" u="none">
                <a:solidFill>
                  <a:srgbClr val="62747a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1EC7F96-C850-4B8A-9F1B-766EA39FF71A}" type="slidenum">
              <a:rPr b="0" lang="en-US" sz="900" strike="noStrike" u="none">
                <a:solidFill>
                  <a:srgbClr val="62747a"/>
                </a:solidFill>
                <a:effectLst/>
                <a:uFillTx/>
                <a:latin typeface="Aptos"/>
                <a:ea typeface="Aptos"/>
              </a:rPr>
              <a:t>&lt;number&gt;</a:t>
            </a:fld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Text 0"/>
          <p:cNvSpPr/>
          <p:nvPr/>
        </p:nvSpPr>
        <p:spPr>
          <a:xfrm>
            <a:off x="502920" y="567000"/>
            <a:ext cx="5025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21c4d6"/>
                </a:solidFill>
                <a:effectLst/>
                <a:uFillTx/>
                <a:latin typeface="Aptos"/>
              </a:rPr>
              <a:t>05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1"/>
          <p:cNvSpPr/>
          <p:nvPr/>
        </p:nvSpPr>
        <p:spPr>
          <a:xfrm>
            <a:off x="1078920" y="484560"/>
            <a:ext cx="99666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193238"/>
                </a:solidFill>
                <a:effectLst/>
                <a:uFillTx/>
                <a:latin typeface="Aptos"/>
              </a:rPr>
              <a:t>Proposed System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2"/>
          <p:cNvSpPr/>
          <p:nvPr/>
        </p:nvSpPr>
        <p:spPr>
          <a:xfrm>
            <a:off x="1078920" y="987480"/>
            <a:ext cx="9783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62747a"/>
                </a:solidFill>
                <a:effectLst/>
                <a:uFillTx/>
                <a:latin typeface="Aptos"/>
              </a:rPr>
              <a:t>Facial verification turns attendance into a controlled digital event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Shape 3"/>
          <p:cNvSpPr/>
          <p:nvPr/>
        </p:nvSpPr>
        <p:spPr>
          <a:xfrm>
            <a:off x="658440" y="1490400"/>
            <a:ext cx="502560" cy="502560"/>
          </a:xfrm>
          <a:prstGeom prst="ellipse">
            <a:avLst/>
          </a:prstGeom>
          <a:solidFill>
            <a:srgbClr val="137b86"/>
          </a:solidFill>
          <a:ln w="12700">
            <a:solidFill>
              <a:srgbClr val="137b8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4"/>
          <p:cNvSpPr/>
          <p:nvPr/>
        </p:nvSpPr>
        <p:spPr>
          <a:xfrm>
            <a:off x="658440" y="1627560"/>
            <a:ext cx="50256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01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5"/>
          <p:cNvSpPr/>
          <p:nvPr/>
        </p:nvSpPr>
        <p:spPr>
          <a:xfrm>
            <a:off x="1371600" y="1444680"/>
            <a:ext cx="10969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9" strike="noStrike" u="none">
                <a:solidFill>
                  <a:srgbClr val="21c4d6"/>
                </a:solidFill>
                <a:effectLst/>
                <a:uFillTx/>
                <a:latin typeface="Aptos"/>
              </a:rPr>
              <a:t>REGISTER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6"/>
          <p:cNvSpPr/>
          <p:nvPr/>
        </p:nvSpPr>
        <p:spPr>
          <a:xfrm>
            <a:off x="1371600" y="1755720"/>
            <a:ext cx="40687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50" strike="noStrike" u="none">
                <a:solidFill>
                  <a:srgbClr val="193238"/>
                </a:solidFill>
                <a:effectLst/>
                <a:uFillTx/>
                <a:latin typeface="Aptos"/>
              </a:rPr>
              <a:t>Create a profile and capture facial data in advance.</a:t>
            </a:r>
            <a:endParaRPr b="0" lang="en-US" sz="16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Shape 7"/>
          <p:cNvSpPr/>
          <p:nvPr/>
        </p:nvSpPr>
        <p:spPr>
          <a:xfrm>
            <a:off x="905040" y="2011680"/>
            <a:ext cx="360" cy="603360"/>
          </a:xfrm>
          <a:prstGeom prst="line">
            <a:avLst/>
          </a:prstGeom>
          <a:ln w="25400">
            <a:solidFill>
              <a:srgbClr val="d6e2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Shape 8"/>
          <p:cNvSpPr/>
          <p:nvPr/>
        </p:nvSpPr>
        <p:spPr>
          <a:xfrm>
            <a:off x="658440" y="2624400"/>
            <a:ext cx="502560" cy="502560"/>
          </a:xfrm>
          <a:prstGeom prst="ellipse">
            <a:avLst/>
          </a:prstGeom>
          <a:solidFill>
            <a:srgbClr val="137b86"/>
          </a:solidFill>
          <a:ln w="12700">
            <a:solidFill>
              <a:srgbClr val="137b8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9"/>
          <p:cNvSpPr/>
          <p:nvPr/>
        </p:nvSpPr>
        <p:spPr>
          <a:xfrm>
            <a:off x="658440" y="2761560"/>
            <a:ext cx="50256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02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10"/>
          <p:cNvSpPr/>
          <p:nvPr/>
        </p:nvSpPr>
        <p:spPr>
          <a:xfrm>
            <a:off x="1371600" y="2578680"/>
            <a:ext cx="10969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9" strike="noStrike" u="none">
                <a:solidFill>
                  <a:srgbClr val="21c4d6"/>
                </a:solidFill>
                <a:effectLst/>
                <a:uFillTx/>
                <a:latin typeface="Aptos"/>
              </a:rPr>
              <a:t>RECOGNIZE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11"/>
          <p:cNvSpPr/>
          <p:nvPr/>
        </p:nvSpPr>
        <p:spPr>
          <a:xfrm>
            <a:off x="1371600" y="2889360"/>
            <a:ext cx="40687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50" strike="noStrike" u="none">
                <a:solidFill>
                  <a:srgbClr val="193238"/>
                </a:solidFill>
                <a:effectLst/>
                <a:uFillTx/>
                <a:latin typeface="Aptos"/>
              </a:rPr>
              <a:t>Match the live face with a registered identity.</a:t>
            </a:r>
            <a:endParaRPr b="0" lang="en-US" sz="16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Shape 12"/>
          <p:cNvSpPr/>
          <p:nvPr/>
        </p:nvSpPr>
        <p:spPr>
          <a:xfrm>
            <a:off x="905040" y="3145320"/>
            <a:ext cx="360" cy="603720"/>
          </a:xfrm>
          <a:prstGeom prst="line">
            <a:avLst/>
          </a:prstGeom>
          <a:ln w="25400">
            <a:solidFill>
              <a:srgbClr val="d6e2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Shape 13"/>
          <p:cNvSpPr/>
          <p:nvPr/>
        </p:nvSpPr>
        <p:spPr>
          <a:xfrm>
            <a:off x="658440" y="3758040"/>
            <a:ext cx="502560" cy="502560"/>
          </a:xfrm>
          <a:prstGeom prst="ellipse">
            <a:avLst/>
          </a:prstGeom>
          <a:solidFill>
            <a:srgbClr val="25a578"/>
          </a:solidFill>
          <a:ln w="12700">
            <a:solidFill>
              <a:srgbClr val="25a57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14"/>
          <p:cNvSpPr/>
          <p:nvPr/>
        </p:nvSpPr>
        <p:spPr>
          <a:xfrm>
            <a:off x="658440" y="3895200"/>
            <a:ext cx="50256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03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15"/>
          <p:cNvSpPr/>
          <p:nvPr/>
        </p:nvSpPr>
        <p:spPr>
          <a:xfrm>
            <a:off x="1371600" y="3712320"/>
            <a:ext cx="10969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9" strike="noStrike" u="none">
                <a:solidFill>
                  <a:srgbClr val="21c4d6"/>
                </a:solidFill>
                <a:effectLst/>
                <a:uFillTx/>
                <a:latin typeface="Aptos"/>
              </a:rPr>
              <a:t>RECORD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16"/>
          <p:cNvSpPr/>
          <p:nvPr/>
        </p:nvSpPr>
        <p:spPr>
          <a:xfrm>
            <a:off x="1371600" y="4023360"/>
            <a:ext cx="40687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50" strike="noStrike" u="none">
                <a:solidFill>
                  <a:srgbClr val="193238"/>
                </a:solidFill>
                <a:effectLst/>
                <a:uFillTx/>
                <a:latin typeface="Aptos"/>
              </a:rPr>
              <a:t>Write the attendance entry with date and time.</a:t>
            </a:r>
            <a:endParaRPr b="0" lang="en-US" sz="16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Shape 17"/>
          <p:cNvSpPr/>
          <p:nvPr/>
        </p:nvSpPr>
        <p:spPr>
          <a:xfrm>
            <a:off x="905040" y="4279320"/>
            <a:ext cx="360" cy="603360"/>
          </a:xfrm>
          <a:prstGeom prst="line">
            <a:avLst/>
          </a:prstGeom>
          <a:ln w="25400">
            <a:solidFill>
              <a:srgbClr val="d6e2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Shape 18"/>
          <p:cNvSpPr/>
          <p:nvPr/>
        </p:nvSpPr>
        <p:spPr>
          <a:xfrm>
            <a:off x="658440" y="4892040"/>
            <a:ext cx="502560" cy="502560"/>
          </a:xfrm>
          <a:prstGeom prst="ellipse">
            <a:avLst/>
          </a:prstGeom>
          <a:solidFill>
            <a:srgbClr val="137b86"/>
          </a:solidFill>
          <a:ln w="12700">
            <a:solidFill>
              <a:srgbClr val="137b8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19"/>
          <p:cNvSpPr/>
          <p:nvPr/>
        </p:nvSpPr>
        <p:spPr>
          <a:xfrm>
            <a:off x="658440" y="5029200"/>
            <a:ext cx="50256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04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20"/>
          <p:cNvSpPr/>
          <p:nvPr/>
        </p:nvSpPr>
        <p:spPr>
          <a:xfrm>
            <a:off x="1371600" y="4846320"/>
            <a:ext cx="10969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9" strike="noStrike" u="none">
                <a:solidFill>
                  <a:srgbClr val="21c4d6"/>
                </a:solidFill>
                <a:effectLst/>
                <a:uFillTx/>
                <a:latin typeface="Aptos"/>
              </a:rPr>
              <a:t>REVIEW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21"/>
          <p:cNvSpPr/>
          <p:nvPr/>
        </p:nvSpPr>
        <p:spPr>
          <a:xfrm>
            <a:off x="1371600" y="5157360"/>
            <a:ext cx="40687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50" strike="noStrike" u="none">
                <a:solidFill>
                  <a:srgbClr val="193238"/>
                </a:solidFill>
                <a:effectLst/>
                <a:uFillTx/>
                <a:latin typeface="Aptos"/>
              </a:rPr>
              <a:t>Monitor records and generate reports from the dashboard.</a:t>
            </a:r>
            <a:endParaRPr b="0" lang="en-US" sz="16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Shape 22"/>
          <p:cNvSpPr/>
          <p:nvPr/>
        </p:nvSpPr>
        <p:spPr>
          <a:xfrm>
            <a:off x="5989320" y="1417320"/>
            <a:ext cx="5394600" cy="4525920"/>
          </a:xfrm>
          <a:prstGeom prst="roundRect">
            <a:avLst>
              <a:gd name="adj" fmla="val 1212"/>
            </a:avLst>
          </a:prstGeom>
          <a:solidFill>
            <a:srgbClr val="142428"/>
          </a:solidFill>
          <a:ln w="12700">
            <a:solidFill>
              <a:srgbClr val="1424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23"/>
          <p:cNvSpPr/>
          <p:nvPr/>
        </p:nvSpPr>
        <p:spPr>
          <a:xfrm>
            <a:off x="6355080" y="1783080"/>
            <a:ext cx="31086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111" strike="noStrike" u="none">
                <a:solidFill>
                  <a:srgbClr val="21c4d6"/>
                </a:solidFill>
                <a:effectLst/>
                <a:uFillTx/>
                <a:latin typeface="Aptos"/>
              </a:rPr>
              <a:t>EXPECTED OPERATIONAL CHANGE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24"/>
          <p:cNvSpPr/>
          <p:nvPr/>
        </p:nvSpPr>
        <p:spPr>
          <a:xfrm>
            <a:off x="6355080" y="2331720"/>
            <a:ext cx="17370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afc3c7"/>
                </a:solidFill>
                <a:effectLst/>
                <a:uFillTx/>
                <a:latin typeface="Aptos"/>
              </a:rPr>
              <a:t>Manual marking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25"/>
          <p:cNvSpPr/>
          <p:nvPr/>
        </p:nvSpPr>
        <p:spPr>
          <a:xfrm>
            <a:off x="8138160" y="2322720"/>
            <a:ext cx="3196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21c4d6"/>
                </a:solidFill>
                <a:effectLst/>
                <a:uFillTx/>
                <a:latin typeface="Aptos"/>
              </a:rPr>
              <a:t>→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26"/>
          <p:cNvSpPr/>
          <p:nvPr/>
        </p:nvSpPr>
        <p:spPr>
          <a:xfrm>
            <a:off x="8549640" y="2331720"/>
            <a:ext cx="22399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Automatic verification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27"/>
          <p:cNvSpPr/>
          <p:nvPr/>
        </p:nvSpPr>
        <p:spPr>
          <a:xfrm>
            <a:off x="6355080" y="2953440"/>
            <a:ext cx="17370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afc3c7"/>
                </a:solidFill>
                <a:effectLst/>
                <a:uFillTx/>
                <a:latin typeface="Aptos"/>
              </a:rPr>
              <a:t>Delayed entry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28"/>
          <p:cNvSpPr/>
          <p:nvPr/>
        </p:nvSpPr>
        <p:spPr>
          <a:xfrm>
            <a:off x="8138160" y="2944440"/>
            <a:ext cx="3196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21c4d6"/>
                </a:solidFill>
                <a:effectLst/>
                <a:uFillTx/>
                <a:latin typeface="Aptos"/>
              </a:rPr>
              <a:t>→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29"/>
          <p:cNvSpPr/>
          <p:nvPr/>
        </p:nvSpPr>
        <p:spPr>
          <a:xfrm>
            <a:off x="8549640" y="2953440"/>
            <a:ext cx="22399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Real-time recording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30"/>
          <p:cNvSpPr/>
          <p:nvPr/>
        </p:nvSpPr>
        <p:spPr>
          <a:xfrm>
            <a:off x="6355080" y="3575160"/>
            <a:ext cx="17370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afc3c7"/>
                </a:solidFill>
                <a:effectLst/>
                <a:uFillTx/>
                <a:latin typeface="Aptos"/>
              </a:rPr>
              <a:t>Paper / sheets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31"/>
          <p:cNvSpPr/>
          <p:nvPr/>
        </p:nvSpPr>
        <p:spPr>
          <a:xfrm>
            <a:off x="8138160" y="3566160"/>
            <a:ext cx="3196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21c4d6"/>
                </a:solidFill>
                <a:effectLst/>
                <a:uFillTx/>
                <a:latin typeface="Aptos"/>
              </a:rPr>
              <a:t>→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32"/>
          <p:cNvSpPr/>
          <p:nvPr/>
        </p:nvSpPr>
        <p:spPr>
          <a:xfrm>
            <a:off x="8549640" y="3575160"/>
            <a:ext cx="22399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Central database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33"/>
          <p:cNvSpPr/>
          <p:nvPr/>
        </p:nvSpPr>
        <p:spPr>
          <a:xfrm>
            <a:off x="6355080" y="4197240"/>
            <a:ext cx="17370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afc3c7"/>
                </a:solidFill>
                <a:effectLst/>
                <a:uFillTx/>
                <a:latin typeface="Aptos"/>
              </a:rPr>
              <a:t>Manual totals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34"/>
          <p:cNvSpPr/>
          <p:nvPr/>
        </p:nvSpPr>
        <p:spPr>
          <a:xfrm>
            <a:off x="8138160" y="4187880"/>
            <a:ext cx="3196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21c4d6"/>
                </a:solidFill>
                <a:effectLst/>
                <a:uFillTx/>
                <a:latin typeface="Aptos"/>
              </a:rPr>
              <a:t>→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35"/>
          <p:cNvSpPr/>
          <p:nvPr/>
        </p:nvSpPr>
        <p:spPr>
          <a:xfrm>
            <a:off x="8549640" y="4197240"/>
            <a:ext cx="22399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Automated reports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36"/>
          <p:cNvSpPr/>
          <p:nvPr/>
        </p:nvSpPr>
        <p:spPr>
          <a:xfrm>
            <a:off x="6355080" y="4818960"/>
            <a:ext cx="17370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afc3c7"/>
                </a:solidFill>
                <a:effectLst/>
                <a:uFillTx/>
                <a:latin typeface="Aptos"/>
              </a:rPr>
              <a:t>Limited visibility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37"/>
          <p:cNvSpPr/>
          <p:nvPr/>
        </p:nvSpPr>
        <p:spPr>
          <a:xfrm>
            <a:off x="8138160" y="4809600"/>
            <a:ext cx="3196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21c4d6"/>
                </a:solidFill>
                <a:effectLst/>
                <a:uFillTx/>
                <a:latin typeface="Aptos"/>
              </a:rPr>
              <a:t>→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38"/>
          <p:cNvSpPr/>
          <p:nvPr/>
        </p:nvSpPr>
        <p:spPr>
          <a:xfrm>
            <a:off x="8549640" y="4818960"/>
            <a:ext cx="22399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Live administrator view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Shape 39"/>
          <p:cNvSpPr/>
          <p:nvPr/>
        </p:nvSpPr>
        <p:spPr>
          <a:xfrm>
            <a:off x="6355080" y="5440680"/>
            <a:ext cx="4434480" cy="292320"/>
          </a:xfrm>
          <a:prstGeom prst="roundRect">
            <a:avLst>
              <a:gd name="adj" fmla="val 15625"/>
            </a:avLst>
          </a:prstGeom>
          <a:solidFill>
            <a:srgbClr val="21c4d6"/>
          </a:solidFill>
          <a:ln w="12700">
            <a:solidFill>
              <a:srgbClr val="21c4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40"/>
          <p:cNvSpPr/>
          <p:nvPr/>
        </p:nvSpPr>
        <p:spPr>
          <a:xfrm>
            <a:off x="6446520" y="5518440"/>
            <a:ext cx="4251600" cy="11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142428"/>
                </a:solidFill>
                <a:effectLst/>
                <a:uFillTx/>
                <a:latin typeface="Aptos"/>
              </a:rPr>
              <a:t>Faster • More accurate • Easier to audit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41"/>
          <p:cNvSpPr/>
          <p:nvPr/>
        </p:nvSpPr>
        <p:spPr>
          <a:xfrm>
            <a:off x="502920" y="6419160"/>
            <a:ext cx="96008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2747a"/>
                </a:solidFill>
                <a:effectLst/>
                <a:uFillTx/>
                <a:latin typeface="Aptos"/>
              </a:rPr>
              <a:t>Real-time identification • Timestamped records • Centralized reporting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PlaceHolder 1"/>
          <p:cNvSpPr>
            <a:spLocks noGrp="1"/>
          </p:cNvSpPr>
          <p:nvPr>
            <p:ph type="sldNum" idx="8"/>
          </p:nvPr>
        </p:nvSpPr>
        <p:spPr>
          <a:xfrm>
            <a:off x="11430000" y="6446520"/>
            <a:ext cx="273960" cy="18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900" strike="noStrike" u="none">
                <a:solidFill>
                  <a:srgbClr val="62747a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B123253-1D23-4187-9354-1254CFC06BEE}" type="slidenum">
              <a:rPr b="0" lang="en-US" sz="900" strike="noStrike" u="none">
                <a:solidFill>
                  <a:srgbClr val="62747a"/>
                </a:solidFill>
                <a:effectLst/>
                <a:uFillTx/>
                <a:latin typeface="Aptos"/>
                <a:ea typeface="Aptos"/>
              </a:rPr>
              <a:t>&lt;number&gt;</a:t>
            </a:fld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Text 0"/>
          <p:cNvSpPr/>
          <p:nvPr/>
        </p:nvSpPr>
        <p:spPr>
          <a:xfrm>
            <a:off x="502920" y="567000"/>
            <a:ext cx="5025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21c4d6"/>
                </a:solidFill>
                <a:effectLst/>
                <a:uFillTx/>
                <a:latin typeface="Aptos"/>
              </a:rPr>
              <a:t>06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1"/>
          <p:cNvSpPr/>
          <p:nvPr/>
        </p:nvSpPr>
        <p:spPr>
          <a:xfrm>
            <a:off x="1078920" y="484560"/>
            <a:ext cx="99666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193238"/>
                </a:solidFill>
                <a:effectLst/>
                <a:uFillTx/>
                <a:latin typeface="Aptos"/>
              </a:rPr>
              <a:t>System Architecture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2"/>
          <p:cNvSpPr/>
          <p:nvPr/>
        </p:nvSpPr>
        <p:spPr>
          <a:xfrm>
            <a:off x="1078920" y="987480"/>
            <a:ext cx="9783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62747a"/>
                </a:solidFill>
                <a:effectLst/>
                <a:uFillTx/>
                <a:latin typeface="Aptos"/>
              </a:rPr>
              <a:t>End-to-end data flow from camera capture to administrative insight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Shape 3"/>
          <p:cNvSpPr/>
          <p:nvPr/>
        </p:nvSpPr>
        <p:spPr>
          <a:xfrm>
            <a:off x="384120" y="2057400"/>
            <a:ext cx="1416960" cy="1371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6e2e5"/>
            </a:solidFill>
            <a:round/>
          </a:ln>
          <a:effectLst>
            <a:outerShdw algn="bl" blurRad="38160" dir="2700000" dist="50402" kx="0" ky="0" rotWithShape="0" sx="100000" sy="100000">
              <a:srgbClr val="142428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4"/>
          <p:cNvSpPr/>
          <p:nvPr/>
        </p:nvSpPr>
        <p:spPr>
          <a:xfrm>
            <a:off x="822960" y="2221920"/>
            <a:ext cx="529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137b86"/>
                </a:solidFill>
                <a:effectLst/>
                <a:uFillTx/>
                <a:latin typeface="Aptos"/>
              </a:rPr>
              <a:t>1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5"/>
          <p:cNvSpPr/>
          <p:nvPr/>
        </p:nvSpPr>
        <p:spPr>
          <a:xfrm>
            <a:off x="493920" y="2697480"/>
            <a:ext cx="1197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193238"/>
                </a:solidFill>
                <a:effectLst/>
                <a:uFillTx/>
                <a:latin typeface="Aptos"/>
              </a:rPr>
              <a:t>User / Student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6"/>
          <p:cNvSpPr/>
          <p:nvPr/>
        </p:nvSpPr>
        <p:spPr>
          <a:xfrm>
            <a:off x="493920" y="3054240"/>
            <a:ext cx="11973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62747a"/>
                </a:solidFill>
                <a:effectLst/>
                <a:uFillTx/>
                <a:latin typeface="Aptos"/>
              </a:rPr>
              <a:t>Presents face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Shape 7"/>
          <p:cNvSpPr/>
          <p:nvPr/>
        </p:nvSpPr>
        <p:spPr>
          <a:xfrm>
            <a:off x="1837800" y="2597040"/>
            <a:ext cx="164160" cy="273960"/>
          </a:xfrm>
          <a:prstGeom prst="chevron">
            <a:avLst>
              <a:gd name="adj" fmla="val 50000"/>
            </a:avLst>
          </a:prstGeom>
          <a:solidFill>
            <a:srgbClr val="21c4d6"/>
          </a:solidFill>
          <a:ln w="12700">
            <a:solidFill>
              <a:srgbClr val="21c4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Shape 8"/>
          <p:cNvSpPr/>
          <p:nvPr/>
        </p:nvSpPr>
        <p:spPr>
          <a:xfrm>
            <a:off x="2048400" y="2057400"/>
            <a:ext cx="1416960" cy="1371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6e2e5"/>
            </a:solidFill>
            <a:round/>
          </a:ln>
          <a:effectLst>
            <a:outerShdw algn="bl" blurRad="38160" dir="2700000" dist="50402" kx="0" ky="0" rotWithShape="0" sx="100000" sy="100000">
              <a:srgbClr val="142428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9"/>
          <p:cNvSpPr/>
          <p:nvPr/>
        </p:nvSpPr>
        <p:spPr>
          <a:xfrm>
            <a:off x="2487240" y="2221920"/>
            <a:ext cx="529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137b86"/>
                </a:solidFill>
                <a:effectLst/>
                <a:uFillTx/>
                <a:latin typeface="Aptos"/>
              </a:rPr>
              <a:t>2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10"/>
          <p:cNvSpPr/>
          <p:nvPr/>
        </p:nvSpPr>
        <p:spPr>
          <a:xfrm>
            <a:off x="2157840" y="2697480"/>
            <a:ext cx="1197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193238"/>
                </a:solidFill>
                <a:effectLst/>
                <a:uFillTx/>
                <a:latin typeface="Aptos"/>
              </a:rPr>
              <a:t>Live Camera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 11"/>
          <p:cNvSpPr/>
          <p:nvPr/>
        </p:nvSpPr>
        <p:spPr>
          <a:xfrm>
            <a:off x="2157840" y="3054240"/>
            <a:ext cx="11973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62747a"/>
                </a:solidFill>
                <a:effectLst/>
                <a:uFillTx/>
                <a:latin typeface="Aptos"/>
              </a:rPr>
              <a:t>Captures frame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Shape 12"/>
          <p:cNvSpPr/>
          <p:nvPr/>
        </p:nvSpPr>
        <p:spPr>
          <a:xfrm>
            <a:off x="3502080" y="2597040"/>
            <a:ext cx="164160" cy="273960"/>
          </a:xfrm>
          <a:prstGeom prst="chevron">
            <a:avLst>
              <a:gd name="adj" fmla="val 50000"/>
            </a:avLst>
          </a:prstGeom>
          <a:solidFill>
            <a:srgbClr val="21c4d6"/>
          </a:solidFill>
          <a:ln w="12700">
            <a:solidFill>
              <a:srgbClr val="21c4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Shape 13"/>
          <p:cNvSpPr/>
          <p:nvPr/>
        </p:nvSpPr>
        <p:spPr>
          <a:xfrm>
            <a:off x="3712320" y="2057400"/>
            <a:ext cx="1416960" cy="1371240"/>
          </a:xfrm>
          <a:prstGeom prst="roundRect">
            <a:avLst>
              <a:gd name="adj" fmla="val 3333"/>
            </a:avLst>
          </a:prstGeom>
          <a:solidFill>
            <a:srgbClr val="142428"/>
          </a:solidFill>
          <a:ln w="12700">
            <a:solidFill>
              <a:srgbClr val="142428"/>
            </a:solidFill>
            <a:round/>
          </a:ln>
          <a:effectLst>
            <a:outerShdw algn="bl" blurRad="38160" dir="2700000" dist="50402" kx="0" ky="0" rotWithShape="0" sx="100000" sy="100000">
              <a:srgbClr val="142428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14"/>
          <p:cNvSpPr/>
          <p:nvPr/>
        </p:nvSpPr>
        <p:spPr>
          <a:xfrm>
            <a:off x="4151520" y="2221920"/>
            <a:ext cx="529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21c4d6"/>
                </a:solidFill>
                <a:effectLst/>
                <a:uFillTx/>
                <a:latin typeface="Aptos"/>
              </a:rPr>
              <a:t>3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15"/>
          <p:cNvSpPr/>
          <p:nvPr/>
        </p:nvSpPr>
        <p:spPr>
          <a:xfrm>
            <a:off x="3822120" y="2697480"/>
            <a:ext cx="1197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Face Engine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16"/>
          <p:cNvSpPr/>
          <p:nvPr/>
        </p:nvSpPr>
        <p:spPr>
          <a:xfrm>
            <a:off x="3822120" y="3054240"/>
            <a:ext cx="11973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bfd4d8"/>
                </a:solidFill>
                <a:effectLst/>
                <a:uFillTx/>
                <a:latin typeface="Aptos"/>
              </a:rPr>
              <a:t>Detects + matches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Shape 17"/>
          <p:cNvSpPr/>
          <p:nvPr/>
        </p:nvSpPr>
        <p:spPr>
          <a:xfrm>
            <a:off x="5166360" y="2597040"/>
            <a:ext cx="164160" cy="273960"/>
          </a:xfrm>
          <a:prstGeom prst="chevron">
            <a:avLst>
              <a:gd name="adj" fmla="val 50000"/>
            </a:avLst>
          </a:prstGeom>
          <a:solidFill>
            <a:srgbClr val="21c4d6"/>
          </a:solidFill>
          <a:ln w="12700">
            <a:solidFill>
              <a:srgbClr val="21c4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Shape 18"/>
          <p:cNvSpPr/>
          <p:nvPr/>
        </p:nvSpPr>
        <p:spPr>
          <a:xfrm>
            <a:off x="5376600" y="2057400"/>
            <a:ext cx="1416960" cy="1371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6e2e5"/>
            </a:solidFill>
            <a:round/>
          </a:ln>
          <a:effectLst>
            <a:outerShdw algn="bl" blurRad="38160" dir="2700000" dist="50402" kx="0" ky="0" rotWithShape="0" sx="100000" sy="100000">
              <a:srgbClr val="142428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19"/>
          <p:cNvSpPr/>
          <p:nvPr/>
        </p:nvSpPr>
        <p:spPr>
          <a:xfrm>
            <a:off x="5815440" y="2221920"/>
            <a:ext cx="529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137b86"/>
                </a:solidFill>
                <a:effectLst/>
                <a:uFillTx/>
                <a:latin typeface="Aptos"/>
              </a:rPr>
              <a:t>4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20"/>
          <p:cNvSpPr/>
          <p:nvPr/>
        </p:nvSpPr>
        <p:spPr>
          <a:xfrm>
            <a:off x="5486400" y="2697480"/>
            <a:ext cx="1197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193238"/>
                </a:solidFill>
                <a:effectLst/>
                <a:uFillTx/>
                <a:latin typeface="Aptos"/>
              </a:rPr>
              <a:t>Attendance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21"/>
          <p:cNvSpPr/>
          <p:nvPr/>
        </p:nvSpPr>
        <p:spPr>
          <a:xfrm>
            <a:off x="5486400" y="3054240"/>
            <a:ext cx="11973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62747a"/>
                </a:solidFill>
                <a:effectLst/>
                <a:uFillTx/>
                <a:latin typeface="Aptos"/>
              </a:rPr>
              <a:t>Validates event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Shape 22"/>
          <p:cNvSpPr/>
          <p:nvPr/>
        </p:nvSpPr>
        <p:spPr>
          <a:xfrm>
            <a:off x="6830640" y="2597040"/>
            <a:ext cx="164160" cy="273960"/>
          </a:xfrm>
          <a:prstGeom prst="chevron">
            <a:avLst>
              <a:gd name="adj" fmla="val 50000"/>
            </a:avLst>
          </a:prstGeom>
          <a:solidFill>
            <a:srgbClr val="21c4d6"/>
          </a:solidFill>
          <a:ln w="12700">
            <a:solidFill>
              <a:srgbClr val="21c4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Shape 23"/>
          <p:cNvSpPr/>
          <p:nvPr/>
        </p:nvSpPr>
        <p:spPr>
          <a:xfrm>
            <a:off x="7040880" y="2057400"/>
            <a:ext cx="1416960" cy="1371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6e2e5"/>
            </a:solidFill>
            <a:round/>
          </a:ln>
          <a:effectLst>
            <a:outerShdw algn="bl" blurRad="38160" dir="2700000" dist="50402" kx="0" ky="0" rotWithShape="0" sx="100000" sy="100000">
              <a:srgbClr val="142428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24"/>
          <p:cNvSpPr/>
          <p:nvPr/>
        </p:nvSpPr>
        <p:spPr>
          <a:xfrm>
            <a:off x="7479720" y="2221920"/>
            <a:ext cx="529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137b86"/>
                </a:solidFill>
                <a:effectLst/>
                <a:uFillTx/>
                <a:latin typeface="Aptos"/>
              </a:rPr>
              <a:t>5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25"/>
          <p:cNvSpPr/>
          <p:nvPr/>
        </p:nvSpPr>
        <p:spPr>
          <a:xfrm>
            <a:off x="7150680" y="2697480"/>
            <a:ext cx="1197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193238"/>
                </a:solidFill>
                <a:effectLst/>
                <a:uFillTx/>
                <a:latin typeface="Aptos"/>
              </a:rPr>
              <a:t>MongoDB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26"/>
          <p:cNvSpPr/>
          <p:nvPr/>
        </p:nvSpPr>
        <p:spPr>
          <a:xfrm>
            <a:off x="7150680" y="3054240"/>
            <a:ext cx="11973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62747a"/>
                </a:solidFill>
                <a:effectLst/>
                <a:uFillTx/>
                <a:latin typeface="Aptos"/>
              </a:rPr>
              <a:t>Stores record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Shape 27"/>
          <p:cNvSpPr/>
          <p:nvPr/>
        </p:nvSpPr>
        <p:spPr>
          <a:xfrm>
            <a:off x="8494920" y="2597040"/>
            <a:ext cx="164160" cy="273960"/>
          </a:xfrm>
          <a:prstGeom prst="chevron">
            <a:avLst>
              <a:gd name="adj" fmla="val 50000"/>
            </a:avLst>
          </a:prstGeom>
          <a:solidFill>
            <a:srgbClr val="21c4d6"/>
          </a:solidFill>
          <a:ln w="12700">
            <a:solidFill>
              <a:srgbClr val="21c4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Shape 28"/>
          <p:cNvSpPr/>
          <p:nvPr/>
        </p:nvSpPr>
        <p:spPr>
          <a:xfrm>
            <a:off x="8705160" y="2057400"/>
            <a:ext cx="1416960" cy="1371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6e2e5"/>
            </a:solidFill>
            <a:round/>
          </a:ln>
          <a:effectLst>
            <a:outerShdw algn="bl" blurRad="38160" dir="2700000" dist="50402" kx="0" ky="0" rotWithShape="0" sx="100000" sy="100000">
              <a:srgbClr val="142428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29"/>
          <p:cNvSpPr/>
          <p:nvPr/>
        </p:nvSpPr>
        <p:spPr>
          <a:xfrm>
            <a:off x="9144000" y="2221920"/>
            <a:ext cx="529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137b86"/>
                </a:solidFill>
                <a:effectLst/>
                <a:uFillTx/>
                <a:latin typeface="Aptos"/>
              </a:rPr>
              <a:t>6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30"/>
          <p:cNvSpPr/>
          <p:nvPr/>
        </p:nvSpPr>
        <p:spPr>
          <a:xfrm>
            <a:off x="8814960" y="2697480"/>
            <a:ext cx="1197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193238"/>
                </a:solidFill>
                <a:effectLst/>
                <a:uFillTx/>
                <a:latin typeface="Aptos"/>
              </a:rPr>
              <a:t>Admin Portal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31"/>
          <p:cNvSpPr/>
          <p:nvPr/>
        </p:nvSpPr>
        <p:spPr>
          <a:xfrm>
            <a:off x="8814960" y="3054240"/>
            <a:ext cx="11973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62747a"/>
                </a:solidFill>
                <a:effectLst/>
                <a:uFillTx/>
                <a:latin typeface="Aptos"/>
              </a:rPr>
              <a:t>Monitors + manages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Shape 32"/>
          <p:cNvSpPr/>
          <p:nvPr/>
        </p:nvSpPr>
        <p:spPr>
          <a:xfrm>
            <a:off x="10158840" y="2597040"/>
            <a:ext cx="164160" cy="273960"/>
          </a:xfrm>
          <a:prstGeom prst="chevron">
            <a:avLst>
              <a:gd name="adj" fmla="val 50000"/>
            </a:avLst>
          </a:prstGeom>
          <a:solidFill>
            <a:srgbClr val="21c4d6"/>
          </a:solidFill>
          <a:ln w="12700">
            <a:solidFill>
              <a:srgbClr val="21c4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Shape 33"/>
          <p:cNvSpPr/>
          <p:nvPr/>
        </p:nvSpPr>
        <p:spPr>
          <a:xfrm>
            <a:off x="10369440" y="2057400"/>
            <a:ext cx="1416960" cy="1371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6e2e5"/>
            </a:solidFill>
            <a:round/>
          </a:ln>
          <a:effectLst>
            <a:outerShdw algn="bl" blurRad="38160" dir="2700000" dist="50402" kx="0" ky="0" rotWithShape="0" sx="100000" sy="100000">
              <a:srgbClr val="142428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 34"/>
          <p:cNvSpPr/>
          <p:nvPr/>
        </p:nvSpPr>
        <p:spPr>
          <a:xfrm>
            <a:off x="10808280" y="2221920"/>
            <a:ext cx="529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137b86"/>
                </a:solidFill>
                <a:effectLst/>
                <a:uFillTx/>
                <a:latin typeface="Aptos"/>
              </a:rPr>
              <a:t>7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 35"/>
          <p:cNvSpPr/>
          <p:nvPr/>
        </p:nvSpPr>
        <p:spPr>
          <a:xfrm>
            <a:off x="10478880" y="2697480"/>
            <a:ext cx="1197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193238"/>
                </a:solidFill>
                <a:effectLst/>
                <a:uFillTx/>
                <a:latin typeface="Aptos"/>
              </a:rPr>
              <a:t>Reports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36"/>
          <p:cNvSpPr/>
          <p:nvPr/>
        </p:nvSpPr>
        <p:spPr>
          <a:xfrm>
            <a:off x="10478880" y="3054240"/>
            <a:ext cx="11973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62747a"/>
                </a:solidFill>
                <a:effectLst/>
                <a:uFillTx/>
                <a:latin typeface="Aptos"/>
              </a:rPr>
              <a:t>Summarizes data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Shape 37"/>
          <p:cNvSpPr/>
          <p:nvPr/>
        </p:nvSpPr>
        <p:spPr>
          <a:xfrm>
            <a:off x="7744680" y="3502080"/>
            <a:ext cx="360" cy="1005840"/>
          </a:xfrm>
          <a:prstGeom prst="line">
            <a:avLst/>
          </a:prstGeom>
          <a:ln w="25400">
            <a:solidFill>
              <a:srgbClr val="25a57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Shape 38"/>
          <p:cNvSpPr/>
          <p:nvPr/>
        </p:nvSpPr>
        <p:spPr>
          <a:xfrm>
            <a:off x="5715000" y="4590360"/>
            <a:ext cx="4068720" cy="914040"/>
          </a:xfrm>
          <a:prstGeom prst="roundRect">
            <a:avLst>
              <a:gd name="adj" fmla="val 4000"/>
            </a:avLst>
          </a:prstGeom>
          <a:solidFill>
            <a:srgbClr val="e6f6ef"/>
          </a:solidFill>
          <a:ln w="12700">
            <a:solidFill>
              <a:srgbClr val="25a57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 39"/>
          <p:cNvSpPr/>
          <p:nvPr/>
        </p:nvSpPr>
        <p:spPr>
          <a:xfrm>
            <a:off x="5989320" y="4754880"/>
            <a:ext cx="19656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25a578"/>
                </a:solidFill>
                <a:effectLst/>
                <a:uFillTx/>
                <a:latin typeface="Aptos"/>
              </a:rPr>
              <a:t>Stored attendance record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 40"/>
          <p:cNvSpPr/>
          <p:nvPr/>
        </p:nvSpPr>
        <p:spPr>
          <a:xfrm>
            <a:off x="5989320" y="5102280"/>
            <a:ext cx="35200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193238"/>
                </a:solidFill>
                <a:effectLst/>
                <a:uFillTx/>
                <a:latin typeface="Aptos"/>
              </a:rPr>
              <a:t>User ID  •  Date  •  Time  •  Verification result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Shape 41"/>
          <p:cNvSpPr/>
          <p:nvPr/>
        </p:nvSpPr>
        <p:spPr>
          <a:xfrm>
            <a:off x="685800" y="4251960"/>
            <a:ext cx="4023000" cy="1252440"/>
          </a:xfrm>
          <a:prstGeom prst="roundRect">
            <a:avLst>
              <a:gd name="adj" fmla="val 2920"/>
            </a:avLst>
          </a:prstGeom>
          <a:solidFill>
            <a:srgbClr val="ddf7f8"/>
          </a:solidFill>
          <a:ln w="12700">
            <a:solidFill>
              <a:srgbClr val="21c4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 42"/>
          <p:cNvSpPr/>
          <p:nvPr/>
        </p:nvSpPr>
        <p:spPr>
          <a:xfrm>
            <a:off x="960120" y="4480560"/>
            <a:ext cx="16455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137b86"/>
                </a:solidFill>
                <a:effectLst/>
                <a:uFillTx/>
                <a:latin typeface="Aptos"/>
              </a:rPr>
              <a:t>Practical safeguard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 43"/>
          <p:cNvSpPr/>
          <p:nvPr/>
        </p:nvSpPr>
        <p:spPr>
          <a:xfrm>
            <a:off x="960120" y="4846320"/>
            <a:ext cx="34743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5000" lnSpcReduction="1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193238"/>
                </a:solidFill>
                <a:effectLst/>
                <a:uFillTx/>
                <a:latin typeface="Aptos"/>
              </a:rPr>
              <a:t>Only a successful match should create an attendance event; uncertain faces are flagged for review.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 44"/>
          <p:cNvSpPr/>
          <p:nvPr/>
        </p:nvSpPr>
        <p:spPr>
          <a:xfrm>
            <a:off x="502920" y="6419160"/>
            <a:ext cx="96008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2747a"/>
                </a:solidFill>
                <a:effectLst/>
                <a:uFillTx/>
                <a:latin typeface="Aptos"/>
              </a:rPr>
              <a:t>Architecture separates capture, recognition, storage and reporting for easier maintenance.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PlaceHolder 1"/>
          <p:cNvSpPr>
            <a:spLocks noGrp="1"/>
          </p:cNvSpPr>
          <p:nvPr>
            <p:ph type="sldNum" idx="9"/>
          </p:nvPr>
        </p:nvSpPr>
        <p:spPr>
          <a:xfrm>
            <a:off x="11430000" y="6446520"/>
            <a:ext cx="273960" cy="18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900" strike="noStrike" u="none">
                <a:solidFill>
                  <a:srgbClr val="62747a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67F4A37-D73D-4086-A104-D708BA3A48AB}" type="slidenum">
              <a:rPr b="0" lang="en-US" sz="900" strike="noStrike" u="none">
                <a:solidFill>
                  <a:srgbClr val="62747a"/>
                </a:solidFill>
                <a:effectLst/>
                <a:uFillTx/>
                <a:latin typeface="Aptos"/>
                <a:ea typeface="Aptos"/>
              </a:rPr>
              <a:t>&lt;number&gt;</a:t>
            </a:fld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Text 0"/>
          <p:cNvSpPr/>
          <p:nvPr/>
        </p:nvSpPr>
        <p:spPr>
          <a:xfrm>
            <a:off x="502920" y="567000"/>
            <a:ext cx="5025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21c4d6"/>
                </a:solidFill>
                <a:effectLst/>
                <a:uFillTx/>
                <a:latin typeface="Aptos"/>
              </a:rPr>
              <a:t>07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 1"/>
          <p:cNvSpPr/>
          <p:nvPr/>
        </p:nvSpPr>
        <p:spPr>
          <a:xfrm>
            <a:off x="1078920" y="484560"/>
            <a:ext cx="99666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193238"/>
                </a:solidFill>
                <a:effectLst/>
                <a:uFillTx/>
                <a:latin typeface="Aptos"/>
              </a:rPr>
              <a:t>Technology Stack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 2"/>
          <p:cNvSpPr/>
          <p:nvPr/>
        </p:nvSpPr>
        <p:spPr>
          <a:xfrm>
            <a:off x="1078920" y="987480"/>
            <a:ext cx="9783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62747a"/>
                </a:solidFill>
                <a:effectLst/>
                <a:uFillTx/>
                <a:latin typeface="Aptos"/>
              </a:rPr>
              <a:t>A practical web-and-vision stack for the attendance workflow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Shape 3"/>
          <p:cNvSpPr/>
          <p:nvPr/>
        </p:nvSpPr>
        <p:spPr>
          <a:xfrm>
            <a:off x="548640" y="1463040"/>
            <a:ext cx="2541600" cy="1755360"/>
          </a:xfrm>
          <a:prstGeom prst="roundRect">
            <a:avLst>
              <a:gd name="adj" fmla="val 2604"/>
            </a:avLst>
          </a:prstGeom>
          <a:solidFill>
            <a:srgbClr val="ffffff"/>
          </a:solidFill>
          <a:ln w="12700">
            <a:solidFill>
              <a:srgbClr val="d6e2e5"/>
            </a:solidFill>
            <a:round/>
          </a:ln>
          <a:effectLst>
            <a:outerShdw algn="bl" blurRad="38160" dir="2700000" dist="50402" kx="0" ky="0" rotWithShape="0" sx="100000" sy="100000">
              <a:srgbClr val="142428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 4"/>
          <p:cNvSpPr/>
          <p:nvPr/>
        </p:nvSpPr>
        <p:spPr>
          <a:xfrm>
            <a:off x="749880" y="1664280"/>
            <a:ext cx="21394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99" strike="noStrike" u="none">
                <a:solidFill>
                  <a:srgbClr val="137b86"/>
                </a:solidFill>
                <a:effectLst/>
                <a:uFillTx/>
                <a:latin typeface="Aptos"/>
              </a:rPr>
              <a:t>INTERFACE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 5"/>
          <p:cNvSpPr/>
          <p:nvPr/>
        </p:nvSpPr>
        <p:spPr>
          <a:xfrm>
            <a:off x="749880" y="2030040"/>
            <a:ext cx="21394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5000"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193238"/>
                </a:solidFill>
                <a:effectLst/>
                <a:uFillTx/>
                <a:latin typeface="Aptos"/>
              </a:rPr>
              <a:t>HTML • CSS • JavaScript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 6"/>
          <p:cNvSpPr/>
          <p:nvPr/>
        </p:nvSpPr>
        <p:spPr>
          <a:xfrm>
            <a:off x="749880" y="2514600"/>
            <a:ext cx="2139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62747a"/>
                </a:solidFill>
                <a:effectLst/>
                <a:uFillTx/>
                <a:latin typeface="Aptos"/>
              </a:rPr>
              <a:t>User-facing attendance and administration screens.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Shape 7"/>
          <p:cNvSpPr/>
          <p:nvPr/>
        </p:nvSpPr>
        <p:spPr>
          <a:xfrm>
            <a:off x="3364920" y="1463040"/>
            <a:ext cx="2541600" cy="1755360"/>
          </a:xfrm>
          <a:prstGeom prst="roundRect">
            <a:avLst>
              <a:gd name="adj" fmla="val 2604"/>
            </a:avLst>
          </a:prstGeom>
          <a:solidFill>
            <a:srgbClr val="ffffff"/>
          </a:solidFill>
          <a:ln w="12700">
            <a:solidFill>
              <a:srgbClr val="d6e2e5"/>
            </a:solidFill>
            <a:round/>
          </a:ln>
          <a:effectLst>
            <a:outerShdw algn="bl" blurRad="38160" dir="2700000" dist="50402" kx="0" ky="0" rotWithShape="0" sx="100000" sy="100000">
              <a:srgbClr val="142428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 8"/>
          <p:cNvSpPr/>
          <p:nvPr/>
        </p:nvSpPr>
        <p:spPr>
          <a:xfrm>
            <a:off x="3566160" y="1664280"/>
            <a:ext cx="21394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99" strike="noStrike" u="none">
                <a:solidFill>
                  <a:srgbClr val="137b86"/>
                </a:solidFill>
                <a:effectLst/>
                <a:uFillTx/>
                <a:latin typeface="Aptos"/>
              </a:rPr>
              <a:t>BACKEND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 9"/>
          <p:cNvSpPr/>
          <p:nvPr/>
        </p:nvSpPr>
        <p:spPr>
          <a:xfrm>
            <a:off x="3566160" y="2030040"/>
            <a:ext cx="21394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193238"/>
                </a:solidFill>
                <a:effectLst/>
                <a:uFillTx/>
                <a:latin typeface="Aptos"/>
              </a:rPr>
              <a:t>Python • Flask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 10"/>
          <p:cNvSpPr/>
          <p:nvPr/>
        </p:nvSpPr>
        <p:spPr>
          <a:xfrm>
            <a:off x="3566160" y="2514600"/>
            <a:ext cx="2139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62747a"/>
                </a:solidFill>
                <a:effectLst/>
                <a:uFillTx/>
                <a:latin typeface="Aptos"/>
              </a:rPr>
              <a:t>Application logic, requests and service coordination.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Shape 11"/>
          <p:cNvSpPr/>
          <p:nvPr/>
        </p:nvSpPr>
        <p:spPr>
          <a:xfrm>
            <a:off x="6181200" y="1463040"/>
            <a:ext cx="2541600" cy="1755360"/>
          </a:xfrm>
          <a:prstGeom prst="roundRect">
            <a:avLst>
              <a:gd name="adj" fmla="val 2604"/>
            </a:avLst>
          </a:prstGeom>
          <a:solidFill>
            <a:srgbClr val="142428"/>
          </a:solidFill>
          <a:ln w="12700">
            <a:solidFill>
              <a:srgbClr val="142428"/>
            </a:solidFill>
            <a:round/>
          </a:ln>
          <a:effectLst>
            <a:outerShdw algn="bl" blurRad="38160" dir="2700000" dist="50402" kx="0" ky="0" rotWithShape="0" sx="100000" sy="100000">
              <a:srgbClr val="142428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 12"/>
          <p:cNvSpPr/>
          <p:nvPr/>
        </p:nvSpPr>
        <p:spPr>
          <a:xfrm>
            <a:off x="6382440" y="1664280"/>
            <a:ext cx="21394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99" strike="noStrike" u="none">
                <a:solidFill>
                  <a:srgbClr val="21c4d6"/>
                </a:solidFill>
                <a:effectLst/>
                <a:uFillTx/>
                <a:latin typeface="Aptos"/>
              </a:rPr>
              <a:t>FACE AI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 13"/>
          <p:cNvSpPr/>
          <p:nvPr/>
        </p:nvSpPr>
        <p:spPr>
          <a:xfrm>
            <a:off x="6382440" y="2030040"/>
            <a:ext cx="21394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5000" lnSpcReduction="1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OpenCV • Face Recognition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 14"/>
          <p:cNvSpPr/>
          <p:nvPr/>
        </p:nvSpPr>
        <p:spPr>
          <a:xfrm>
            <a:off x="6382440" y="2514600"/>
            <a:ext cx="2139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bcd0d4"/>
                </a:solidFill>
                <a:effectLst/>
                <a:uFillTx/>
                <a:latin typeface="Aptos"/>
              </a:rPr>
              <a:t>Detection, encoding comparison and identification.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Shape 15"/>
          <p:cNvSpPr/>
          <p:nvPr/>
        </p:nvSpPr>
        <p:spPr>
          <a:xfrm>
            <a:off x="8997840" y="1463040"/>
            <a:ext cx="2541600" cy="1755360"/>
          </a:xfrm>
          <a:prstGeom prst="roundRect">
            <a:avLst>
              <a:gd name="adj" fmla="val 2604"/>
            </a:avLst>
          </a:prstGeom>
          <a:solidFill>
            <a:srgbClr val="ffffff"/>
          </a:solidFill>
          <a:ln w="12700">
            <a:solidFill>
              <a:srgbClr val="d6e2e5"/>
            </a:solidFill>
            <a:round/>
          </a:ln>
          <a:effectLst>
            <a:outerShdw algn="bl" blurRad="38160" dir="2700000" dist="50402" kx="0" ky="0" rotWithShape="0" sx="100000" sy="100000">
              <a:srgbClr val="142428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 16"/>
          <p:cNvSpPr/>
          <p:nvPr/>
        </p:nvSpPr>
        <p:spPr>
          <a:xfrm>
            <a:off x="9198720" y="1664280"/>
            <a:ext cx="21394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99" strike="noStrike" u="none">
                <a:solidFill>
                  <a:srgbClr val="137b86"/>
                </a:solidFill>
                <a:effectLst/>
                <a:uFillTx/>
                <a:latin typeface="Aptos"/>
              </a:rPr>
              <a:t>DATABASE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 17"/>
          <p:cNvSpPr/>
          <p:nvPr/>
        </p:nvSpPr>
        <p:spPr>
          <a:xfrm>
            <a:off x="9198720" y="2030040"/>
            <a:ext cx="21394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193238"/>
                </a:solidFill>
                <a:effectLst/>
                <a:uFillTx/>
                <a:latin typeface="Aptos"/>
              </a:rPr>
              <a:t>MongoDB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 18"/>
          <p:cNvSpPr/>
          <p:nvPr/>
        </p:nvSpPr>
        <p:spPr>
          <a:xfrm>
            <a:off x="9198720" y="2514600"/>
            <a:ext cx="2139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62747a"/>
                </a:solidFill>
                <a:effectLst/>
                <a:uFillTx/>
                <a:latin typeface="Aptos"/>
              </a:rPr>
              <a:t>Student profiles, face identifiers and attendance records.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Shape 19"/>
          <p:cNvSpPr/>
          <p:nvPr/>
        </p:nvSpPr>
        <p:spPr>
          <a:xfrm>
            <a:off x="1481400" y="3730680"/>
            <a:ext cx="2815920" cy="1755360"/>
          </a:xfrm>
          <a:prstGeom prst="roundRect">
            <a:avLst>
              <a:gd name="adj" fmla="val 2604"/>
            </a:avLst>
          </a:prstGeom>
          <a:solidFill>
            <a:srgbClr val="ffffff"/>
          </a:solidFill>
          <a:ln w="12700">
            <a:solidFill>
              <a:srgbClr val="d6e2e5"/>
            </a:solidFill>
            <a:round/>
          </a:ln>
          <a:effectLst>
            <a:outerShdw algn="bl" blurRad="38160" dir="2700000" dist="50402" kx="0" ky="0" rotWithShape="0" sx="100000" sy="100000">
              <a:srgbClr val="142428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 20"/>
          <p:cNvSpPr/>
          <p:nvPr/>
        </p:nvSpPr>
        <p:spPr>
          <a:xfrm>
            <a:off x="1682640" y="3931920"/>
            <a:ext cx="24138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99" strike="noStrike" u="none">
                <a:solidFill>
                  <a:srgbClr val="137b86"/>
                </a:solidFill>
                <a:effectLst/>
                <a:uFillTx/>
                <a:latin typeface="Aptos"/>
              </a:rPr>
              <a:t>CONNECTIVITY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 21"/>
          <p:cNvSpPr/>
          <p:nvPr/>
        </p:nvSpPr>
        <p:spPr>
          <a:xfrm>
            <a:off x="1682640" y="4297680"/>
            <a:ext cx="24138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193238"/>
                </a:solidFill>
                <a:effectLst/>
                <a:uFillTx/>
                <a:latin typeface="Aptos"/>
              </a:rPr>
              <a:t>PyMongo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 22"/>
          <p:cNvSpPr/>
          <p:nvPr/>
        </p:nvSpPr>
        <p:spPr>
          <a:xfrm>
            <a:off x="1682640" y="4782240"/>
            <a:ext cx="2413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62747a"/>
                </a:solidFill>
                <a:effectLst/>
                <a:uFillTx/>
                <a:latin typeface="Aptos"/>
              </a:rPr>
              <a:t>Database access and record operations from Flask.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Shape 23"/>
          <p:cNvSpPr/>
          <p:nvPr/>
        </p:nvSpPr>
        <p:spPr>
          <a:xfrm>
            <a:off x="4608720" y="3730680"/>
            <a:ext cx="2815920" cy="1755360"/>
          </a:xfrm>
          <a:prstGeom prst="roundRect">
            <a:avLst>
              <a:gd name="adj" fmla="val 2604"/>
            </a:avLst>
          </a:prstGeom>
          <a:solidFill>
            <a:srgbClr val="ffffff"/>
          </a:solidFill>
          <a:ln w="12700">
            <a:solidFill>
              <a:srgbClr val="d6e2e5"/>
            </a:solidFill>
            <a:round/>
          </a:ln>
          <a:effectLst>
            <a:outerShdw algn="bl" blurRad="38160" dir="2700000" dist="50402" kx="0" ky="0" rotWithShape="0" sx="100000" sy="100000">
              <a:srgbClr val="142428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 24"/>
          <p:cNvSpPr/>
          <p:nvPr/>
        </p:nvSpPr>
        <p:spPr>
          <a:xfrm>
            <a:off x="4809600" y="3931920"/>
            <a:ext cx="24138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99" strike="noStrike" u="none">
                <a:solidFill>
                  <a:srgbClr val="137b86"/>
                </a:solidFill>
                <a:effectLst/>
                <a:uFillTx/>
                <a:latin typeface="Aptos"/>
              </a:rPr>
              <a:t>HARDWARE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 25"/>
          <p:cNvSpPr/>
          <p:nvPr/>
        </p:nvSpPr>
        <p:spPr>
          <a:xfrm>
            <a:off x="4809600" y="4297680"/>
            <a:ext cx="24138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193238"/>
                </a:solidFill>
                <a:effectLst/>
                <a:uFillTx/>
                <a:latin typeface="Aptos"/>
              </a:rPr>
              <a:t>Webcam / CCTV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 26"/>
          <p:cNvSpPr/>
          <p:nvPr/>
        </p:nvSpPr>
        <p:spPr>
          <a:xfrm>
            <a:off x="4809600" y="4782240"/>
            <a:ext cx="2413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62747a"/>
                </a:solidFill>
                <a:effectLst/>
                <a:uFillTx/>
                <a:latin typeface="Aptos"/>
              </a:rPr>
              <a:t>Real-time image capture at the attendance point.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Shape 27"/>
          <p:cNvSpPr/>
          <p:nvPr/>
        </p:nvSpPr>
        <p:spPr>
          <a:xfrm>
            <a:off x="7735680" y="3730680"/>
            <a:ext cx="2815920" cy="1755360"/>
          </a:xfrm>
          <a:prstGeom prst="roundRect">
            <a:avLst>
              <a:gd name="adj" fmla="val 2604"/>
            </a:avLst>
          </a:prstGeom>
          <a:solidFill>
            <a:srgbClr val="ffffff"/>
          </a:solidFill>
          <a:ln w="12700">
            <a:solidFill>
              <a:srgbClr val="d6e2e5"/>
            </a:solidFill>
            <a:round/>
          </a:ln>
          <a:effectLst>
            <a:outerShdw algn="bl" blurRad="38160" dir="2700000" dist="50402" kx="0" ky="0" rotWithShape="0" sx="100000" sy="100000">
              <a:srgbClr val="142428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 28"/>
          <p:cNvSpPr/>
          <p:nvPr/>
        </p:nvSpPr>
        <p:spPr>
          <a:xfrm>
            <a:off x="7936920" y="3931920"/>
            <a:ext cx="24138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99" strike="noStrike" u="none">
                <a:solidFill>
                  <a:srgbClr val="137b86"/>
                </a:solidFill>
                <a:effectLst/>
                <a:uFillTx/>
                <a:latin typeface="Aptos"/>
              </a:rPr>
              <a:t>DEVELOPMENT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Text 29"/>
          <p:cNvSpPr/>
          <p:nvPr/>
        </p:nvSpPr>
        <p:spPr>
          <a:xfrm>
            <a:off x="7936920" y="4297680"/>
            <a:ext cx="24138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193238"/>
                </a:solidFill>
                <a:effectLst/>
                <a:uFillTx/>
                <a:latin typeface="Aptos"/>
              </a:rPr>
              <a:t>Visual Studio Code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 30"/>
          <p:cNvSpPr/>
          <p:nvPr/>
        </p:nvSpPr>
        <p:spPr>
          <a:xfrm>
            <a:off x="7936920" y="4782240"/>
            <a:ext cx="2413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62747a"/>
                </a:solidFill>
                <a:effectLst/>
                <a:uFillTx/>
                <a:latin typeface="Aptos"/>
              </a:rPr>
              <a:t>Coding, testing and project development.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 31"/>
          <p:cNvSpPr/>
          <p:nvPr/>
        </p:nvSpPr>
        <p:spPr>
          <a:xfrm>
            <a:off x="502920" y="6419160"/>
            <a:ext cx="96008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2747a"/>
                </a:solidFill>
                <a:effectLst/>
                <a:uFillTx/>
                <a:latin typeface="Aptos"/>
              </a:rPr>
              <a:t>Each technology supports a distinct layer: interface, logic, recognition, persistence or capture.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PlaceHolder 1"/>
          <p:cNvSpPr>
            <a:spLocks noGrp="1"/>
          </p:cNvSpPr>
          <p:nvPr>
            <p:ph type="sldNum" idx="10"/>
          </p:nvPr>
        </p:nvSpPr>
        <p:spPr>
          <a:xfrm>
            <a:off x="11430000" y="6446520"/>
            <a:ext cx="273960" cy="18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900" strike="noStrike" u="none">
                <a:solidFill>
                  <a:srgbClr val="62747a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1D5C7EC-BF75-4ADB-A8B8-B4CBD071D70E}" type="slidenum">
              <a:rPr b="0" lang="en-US" sz="900" strike="noStrike" u="none">
                <a:solidFill>
                  <a:srgbClr val="62747a"/>
                </a:solidFill>
                <a:effectLst/>
                <a:uFillTx/>
                <a:latin typeface="Aptos"/>
                <a:ea typeface="Aptos"/>
              </a:rPr>
              <a:t>&lt;number&gt;</a:t>
            </a:fld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Text 0"/>
          <p:cNvSpPr/>
          <p:nvPr/>
        </p:nvSpPr>
        <p:spPr>
          <a:xfrm>
            <a:off x="502920" y="567000"/>
            <a:ext cx="5025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21c4d6"/>
                </a:solidFill>
                <a:effectLst/>
                <a:uFillTx/>
                <a:latin typeface="Aptos"/>
              </a:rPr>
              <a:t>08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 1"/>
          <p:cNvSpPr/>
          <p:nvPr/>
        </p:nvSpPr>
        <p:spPr>
          <a:xfrm>
            <a:off x="1078920" y="484560"/>
            <a:ext cx="99666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193238"/>
                </a:solidFill>
                <a:effectLst/>
                <a:uFillTx/>
                <a:latin typeface="Aptos"/>
              </a:rPr>
              <a:t>Working of the System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 2"/>
          <p:cNvSpPr/>
          <p:nvPr/>
        </p:nvSpPr>
        <p:spPr>
          <a:xfrm>
            <a:off x="1078920" y="987480"/>
            <a:ext cx="9783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62747a"/>
                </a:solidFill>
                <a:effectLst/>
                <a:uFillTx/>
                <a:latin typeface="Aptos"/>
              </a:rPr>
              <a:t>The recognition session follows a controlled, repeatable sequence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Shape 3"/>
          <p:cNvSpPr/>
          <p:nvPr/>
        </p:nvSpPr>
        <p:spPr>
          <a:xfrm>
            <a:off x="1280160" y="1673280"/>
            <a:ext cx="658080" cy="658080"/>
          </a:xfrm>
          <a:prstGeom prst="ellipse">
            <a:avLst/>
          </a:prstGeom>
          <a:solidFill>
            <a:srgbClr val="137b86"/>
          </a:solidFill>
          <a:ln w="12700">
            <a:solidFill>
              <a:srgbClr val="137b8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 4"/>
          <p:cNvSpPr/>
          <p:nvPr/>
        </p:nvSpPr>
        <p:spPr>
          <a:xfrm>
            <a:off x="1280160" y="1874520"/>
            <a:ext cx="6580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1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Shape 5"/>
          <p:cNvSpPr/>
          <p:nvPr/>
        </p:nvSpPr>
        <p:spPr>
          <a:xfrm>
            <a:off x="1965960" y="2002320"/>
            <a:ext cx="1581840" cy="360"/>
          </a:xfrm>
          <a:prstGeom prst="line">
            <a:avLst/>
          </a:prstGeom>
          <a:ln w="38100">
            <a:solidFill>
              <a:srgbClr val="21c4d6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 6"/>
          <p:cNvSpPr/>
          <p:nvPr/>
        </p:nvSpPr>
        <p:spPr>
          <a:xfrm>
            <a:off x="658440" y="2606040"/>
            <a:ext cx="1901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99" strike="noStrike" u="none">
                <a:solidFill>
                  <a:srgbClr val="137b86"/>
                </a:solidFill>
                <a:effectLst/>
                <a:uFillTx/>
                <a:latin typeface="Aptos"/>
              </a:rPr>
              <a:t>CAPTURE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Text 7"/>
          <p:cNvSpPr/>
          <p:nvPr/>
        </p:nvSpPr>
        <p:spPr>
          <a:xfrm>
            <a:off x="658440" y="3017520"/>
            <a:ext cx="19015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193238"/>
                </a:solidFill>
                <a:effectLst/>
                <a:uFillTx/>
                <a:latin typeface="Aptos"/>
              </a:rPr>
              <a:t>Camera reads a live frame.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Shape 8"/>
          <p:cNvSpPr/>
          <p:nvPr/>
        </p:nvSpPr>
        <p:spPr>
          <a:xfrm>
            <a:off x="3557160" y="1673280"/>
            <a:ext cx="658080" cy="658080"/>
          </a:xfrm>
          <a:prstGeom prst="ellipse">
            <a:avLst/>
          </a:prstGeom>
          <a:solidFill>
            <a:srgbClr val="137b86"/>
          </a:solidFill>
          <a:ln w="12700">
            <a:solidFill>
              <a:srgbClr val="137b8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2" name="Text 9"/>
          <p:cNvSpPr/>
          <p:nvPr/>
        </p:nvSpPr>
        <p:spPr>
          <a:xfrm>
            <a:off x="3557160" y="1874520"/>
            <a:ext cx="6580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2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Shape 10"/>
          <p:cNvSpPr/>
          <p:nvPr/>
        </p:nvSpPr>
        <p:spPr>
          <a:xfrm>
            <a:off x="4242600" y="2002320"/>
            <a:ext cx="1581840" cy="360"/>
          </a:xfrm>
          <a:prstGeom prst="line">
            <a:avLst/>
          </a:prstGeom>
          <a:ln w="38100">
            <a:solidFill>
              <a:srgbClr val="21c4d6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Text 11"/>
          <p:cNvSpPr/>
          <p:nvPr/>
        </p:nvSpPr>
        <p:spPr>
          <a:xfrm>
            <a:off x="2935080" y="2606040"/>
            <a:ext cx="1901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99" strike="noStrike" u="none">
                <a:solidFill>
                  <a:srgbClr val="137b86"/>
                </a:solidFill>
                <a:effectLst/>
                <a:uFillTx/>
                <a:latin typeface="Aptos"/>
              </a:rPr>
              <a:t>DETECT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 12"/>
          <p:cNvSpPr/>
          <p:nvPr/>
        </p:nvSpPr>
        <p:spPr>
          <a:xfrm>
            <a:off x="2935080" y="3017520"/>
            <a:ext cx="19015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193238"/>
                </a:solidFill>
                <a:effectLst/>
                <a:uFillTx/>
                <a:latin typeface="Aptos"/>
              </a:rPr>
              <a:t>OpenCV locates the face.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Shape 13"/>
          <p:cNvSpPr/>
          <p:nvPr/>
        </p:nvSpPr>
        <p:spPr>
          <a:xfrm>
            <a:off x="5833800" y="1673280"/>
            <a:ext cx="658080" cy="658080"/>
          </a:xfrm>
          <a:prstGeom prst="ellipse">
            <a:avLst/>
          </a:prstGeom>
          <a:solidFill>
            <a:srgbClr val="137b86"/>
          </a:solidFill>
          <a:ln w="12700">
            <a:solidFill>
              <a:srgbClr val="137b8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7" name="Text 14"/>
          <p:cNvSpPr/>
          <p:nvPr/>
        </p:nvSpPr>
        <p:spPr>
          <a:xfrm>
            <a:off x="5833800" y="1874520"/>
            <a:ext cx="6580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3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Shape 15"/>
          <p:cNvSpPr/>
          <p:nvPr/>
        </p:nvSpPr>
        <p:spPr>
          <a:xfrm>
            <a:off x="6519600" y="2002320"/>
            <a:ext cx="1581840" cy="360"/>
          </a:xfrm>
          <a:prstGeom prst="line">
            <a:avLst/>
          </a:prstGeom>
          <a:ln w="38100">
            <a:solidFill>
              <a:srgbClr val="21c4d6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Text 16"/>
          <p:cNvSpPr/>
          <p:nvPr/>
        </p:nvSpPr>
        <p:spPr>
          <a:xfrm>
            <a:off x="5212080" y="2606040"/>
            <a:ext cx="1901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99" strike="noStrike" u="none">
                <a:solidFill>
                  <a:srgbClr val="137b86"/>
                </a:solidFill>
                <a:effectLst/>
                <a:uFillTx/>
                <a:latin typeface="Aptos"/>
              </a:rPr>
              <a:t>RECOGNIZE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 17"/>
          <p:cNvSpPr/>
          <p:nvPr/>
        </p:nvSpPr>
        <p:spPr>
          <a:xfrm>
            <a:off x="5212080" y="3017520"/>
            <a:ext cx="19015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193238"/>
                </a:solidFill>
                <a:effectLst/>
                <a:uFillTx/>
                <a:latin typeface="Aptos"/>
              </a:rPr>
              <a:t>Face encoding is compared.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Shape 18"/>
          <p:cNvSpPr/>
          <p:nvPr/>
        </p:nvSpPr>
        <p:spPr>
          <a:xfrm>
            <a:off x="8110800" y="1673280"/>
            <a:ext cx="658080" cy="658080"/>
          </a:xfrm>
          <a:prstGeom prst="ellipse">
            <a:avLst/>
          </a:prstGeom>
          <a:solidFill>
            <a:srgbClr val="137b86"/>
          </a:solidFill>
          <a:ln w="12700">
            <a:solidFill>
              <a:srgbClr val="137b8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2" name="Text 19"/>
          <p:cNvSpPr/>
          <p:nvPr/>
        </p:nvSpPr>
        <p:spPr>
          <a:xfrm>
            <a:off x="8110800" y="1874520"/>
            <a:ext cx="6580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4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Shape 20"/>
          <p:cNvSpPr/>
          <p:nvPr/>
        </p:nvSpPr>
        <p:spPr>
          <a:xfrm>
            <a:off x="8796240" y="2002320"/>
            <a:ext cx="1582200" cy="360"/>
          </a:xfrm>
          <a:prstGeom prst="line">
            <a:avLst/>
          </a:prstGeom>
          <a:ln w="38100">
            <a:solidFill>
              <a:srgbClr val="21c4d6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 21"/>
          <p:cNvSpPr/>
          <p:nvPr/>
        </p:nvSpPr>
        <p:spPr>
          <a:xfrm>
            <a:off x="7489080" y="2606040"/>
            <a:ext cx="1901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99" strike="noStrike" u="none">
                <a:solidFill>
                  <a:srgbClr val="137b86"/>
                </a:solidFill>
                <a:effectLst/>
                <a:uFillTx/>
                <a:latin typeface="Aptos"/>
              </a:rPr>
              <a:t>VERIFY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Text 22"/>
          <p:cNvSpPr/>
          <p:nvPr/>
        </p:nvSpPr>
        <p:spPr>
          <a:xfrm>
            <a:off x="7489080" y="3017520"/>
            <a:ext cx="19015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193238"/>
                </a:solidFill>
                <a:effectLst/>
                <a:uFillTx/>
                <a:latin typeface="Aptos"/>
              </a:rPr>
              <a:t>Registered identity is confirmed.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Shape 23"/>
          <p:cNvSpPr/>
          <p:nvPr/>
        </p:nvSpPr>
        <p:spPr>
          <a:xfrm>
            <a:off x="10387440" y="1673280"/>
            <a:ext cx="658080" cy="658080"/>
          </a:xfrm>
          <a:prstGeom prst="ellipse">
            <a:avLst/>
          </a:prstGeom>
          <a:solidFill>
            <a:srgbClr val="25a578"/>
          </a:solidFill>
          <a:ln w="12700">
            <a:solidFill>
              <a:srgbClr val="25a57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 24"/>
          <p:cNvSpPr/>
          <p:nvPr/>
        </p:nvSpPr>
        <p:spPr>
          <a:xfrm>
            <a:off x="10387440" y="1874520"/>
            <a:ext cx="6580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5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 25"/>
          <p:cNvSpPr/>
          <p:nvPr/>
        </p:nvSpPr>
        <p:spPr>
          <a:xfrm>
            <a:off x="9765720" y="2606040"/>
            <a:ext cx="1901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99" strike="noStrike" u="none">
                <a:solidFill>
                  <a:srgbClr val="25a578"/>
                </a:solidFill>
                <a:effectLst/>
                <a:uFillTx/>
                <a:latin typeface="Aptos"/>
              </a:rPr>
              <a:t>RECORD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 26"/>
          <p:cNvSpPr/>
          <p:nvPr/>
        </p:nvSpPr>
        <p:spPr>
          <a:xfrm>
            <a:off x="9765720" y="3017520"/>
            <a:ext cx="19015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193238"/>
                </a:solidFill>
                <a:effectLst/>
                <a:uFillTx/>
                <a:latin typeface="Aptos"/>
              </a:rPr>
              <a:t>Attendance is saved in MongoDB.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Shape 27"/>
          <p:cNvSpPr/>
          <p:nvPr/>
        </p:nvSpPr>
        <p:spPr>
          <a:xfrm>
            <a:off x="658440" y="4224600"/>
            <a:ext cx="6629040" cy="1124280"/>
          </a:xfrm>
          <a:prstGeom prst="roundRect">
            <a:avLst>
              <a:gd name="adj" fmla="val 4065"/>
            </a:avLst>
          </a:prstGeom>
          <a:solidFill>
            <a:srgbClr val="ffffff"/>
          </a:solidFill>
          <a:ln w="12700">
            <a:solidFill>
              <a:srgbClr val="d6e2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 28"/>
          <p:cNvSpPr/>
          <p:nvPr/>
        </p:nvSpPr>
        <p:spPr>
          <a:xfrm>
            <a:off x="932760" y="4480560"/>
            <a:ext cx="10512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25a578"/>
                </a:solidFill>
                <a:effectLst/>
                <a:uFillTx/>
                <a:latin typeface="Aptos"/>
              </a:rPr>
              <a:t>If matched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Text 29"/>
          <p:cNvSpPr/>
          <p:nvPr/>
        </p:nvSpPr>
        <p:spPr>
          <a:xfrm>
            <a:off x="2011680" y="4443840"/>
            <a:ext cx="5166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77500" lnSpcReduction="1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50" strike="noStrike" u="none">
                <a:solidFill>
                  <a:srgbClr val="193238"/>
                </a:solidFill>
                <a:effectLst/>
                <a:uFillTx/>
                <a:latin typeface="Aptos"/>
              </a:rPr>
              <a:t>Create one timestamped attendance entry and show confirmation.</a:t>
            </a:r>
            <a:endParaRPr b="0" lang="en-US" sz="16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 30"/>
          <p:cNvSpPr/>
          <p:nvPr/>
        </p:nvSpPr>
        <p:spPr>
          <a:xfrm>
            <a:off x="2011680" y="4846320"/>
            <a:ext cx="5211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62747a"/>
                </a:solidFill>
                <a:effectLst/>
                <a:uFillTx/>
                <a:latin typeface="Aptos"/>
              </a:rPr>
              <a:t>Duplicate checks can prevent repeated marking in the same session.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Shape 31"/>
          <p:cNvSpPr/>
          <p:nvPr/>
        </p:nvSpPr>
        <p:spPr>
          <a:xfrm>
            <a:off x="7543800" y="4224600"/>
            <a:ext cx="3977280" cy="1124280"/>
          </a:xfrm>
          <a:prstGeom prst="roundRect">
            <a:avLst>
              <a:gd name="adj" fmla="val 4065"/>
            </a:avLst>
          </a:prstGeom>
          <a:solidFill>
            <a:srgbClr val="fdece9"/>
          </a:solidFill>
          <a:ln w="12700">
            <a:solidFill>
              <a:srgbClr val="f06f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Text 32"/>
          <p:cNvSpPr/>
          <p:nvPr/>
        </p:nvSpPr>
        <p:spPr>
          <a:xfrm>
            <a:off x="7818120" y="4480560"/>
            <a:ext cx="12340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f06f5f"/>
                </a:solidFill>
                <a:effectLst/>
                <a:uFillTx/>
                <a:latin typeface="Aptos"/>
              </a:rPr>
              <a:t>If uncertain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 33"/>
          <p:cNvSpPr/>
          <p:nvPr/>
        </p:nvSpPr>
        <p:spPr>
          <a:xfrm>
            <a:off x="9098280" y="4370760"/>
            <a:ext cx="210276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193238"/>
                </a:solidFill>
                <a:effectLst/>
                <a:uFillTx/>
                <a:latin typeface="Aptos"/>
              </a:rPr>
              <a:t>Do not mark automatically; request another scan or administrator review.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Text 34"/>
          <p:cNvSpPr/>
          <p:nvPr/>
        </p:nvSpPr>
        <p:spPr>
          <a:xfrm>
            <a:off x="502920" y="6419160"/>
            <a:ext cx="96008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2747a"/>
                </a:solidFill>
                <a:effectLst/>
                <a:uFillTx/>
                <a:latin typeface="Aptos"/>
              </a:rPr>
              <a:t>Camera → Detection → Recognition → Verification → MongoDB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PlaceHolder 1"/>
          <p:cNvSpPr>
            <a:spLocks noGrp="1"/>
          </p:cNvSpPr>
          <p:nvPr>
            <p:ph type="sldNum" idx="11"/>
          </p:nvPr>
        </p:nvSpPr>
        <p:spPr>
          <a:xfrm>
            <a:off x="11430000" y="6446520"/>
            <a:ext cx="273960" cy="18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900" strike="noStrike" u="none">
                <a:solidFill>
                  <a:srgbClr val="62747a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64BABB8-10F6-4741-8063-C51E0AF47232}" type="slidenum">
              <a:rPr b="0" lang="en-US" sz="900" strike="noStrike" u="none">
                <a:solidFill>
                  <a:srgbClr val="62747a"/>
                </a:solidFill>
                <a:effectLst/>
                <a:uFillTx/>
                <a:latin typeface="Aptos"/>
                <a:ea typeface="Aptos"/>
              </a:rPr>
              <a:t>&lt;number&gt;</a:t>
            </a:fld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Text 0"/>
          <p:cNvSpPr/>
          <p:nvPr/>
        </p:nvSpPr>
        <p:spPr>
          <a:xfrm>
            <a:off x="502920" y="567000"/>
            <a:ext cx="5025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21c4d6"/>
                </a:solidFill>
                <a:effectLst/>
                <a:uFillTx/>
                <a:latin typeface="Aptos"/>
              </a:rPr>
              <a:t>09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Text 1"/>
          <p:cNvSpPr/>
          <p:nvPr/>
        </p:nvSpPr>
        <p:spPr>
          <a:xfrm>
            <a:off x="1078920" y="484560"/>
            <a:ext cx="99666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193238"/>
                </a:solidFill>
                <a:effectLst/>
                <a:uFillTx/>
                <a:latin typeface="Aptos"/>
              </a:rPr>
              <a:t>Key Features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 2"/>
          <p:cNvSpPr/>
          <p:nvPr/>
        </p:nvSpPr>
        <p:spPr>
          <a:xfrm>
            <a:off x="1078920" y="987480"/>
            <a:ext cx="9783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62747a"/>
                </a:solidFill>
                <a:effectLst/>
                <a:uFillTx/>
                <a:latin typeface="Aptos"/>
              </a:rPr>
              <a:t>Core capabilities mapped to everyday attendance operations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Shape 3"/>
          <p:cNvSpPr/>
          <p:nvPr/>
        </p:nvSpPr>
        <p:spPr>
          <a:xfrm>
            <a:off x="594360" y="1417320"/>
            <a:ext cx="3428640" cy="1627200"/>
          </a:xfrm>
          <a:prstGeom prst="roundRect">
            <a:avLst>
              <a:gd name="adj" fmla="val 2809"/>
            </a:avLst>
          </a:prstGeom>
          <a:solidFill>
            <a:srgbClr val="ffffff"/>
          </a:solidFill>
          <a:ln w="12700">
            <a:solidFill>
              <a:srgbClr val="d6e2e5"/>
            </a:solidFill>
            <a:round/>
          </a:ln>
          <a:effectLst>
            <a:outerShdw algn="bl" blurRad="38160" dir="2700000" dist="50402" kx="0" ky="0" rotWithShape="0" sx="100000" sy="100000">
              <a:srgbClr val="142428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Shape 4"/>
          <p:cNvSpPr/>
          <p:nvPr/>
        </p:nvSpPr>
        <p:spPr>
          <a:xfrm>
            <a:off x="795600" y="1618560"/>
            <a:ext cx="658080" cy="310680"/>
          </a:xfrm>
          <a:prstGeom prst="roundRect">
            <a:avLst>
              <a:gd name="adj" fmla="val 17647"/>
            </a:avLst>
          </a:prstGeom>
          <a:solidFill>
            <a:srgbClr val="ddf7f8"/>
          </a:solidFill>
          <a:ln w="12700">
            <a:solidFill>
              <a:srgbClr val="ddf7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Text 5"/>
          <p:cNvSpPr/>
          <p:nvPr/>
        </p:nvSpPr>
        <p:spPr>
          <a:xfrm>
            <a:off x="868680" y="1686960"/>
            <a:ext cx="51156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71" strike="noStrike" u="none">
                <a:solidFill>
                  <a:srgbClr val="137b86"/>
                </a:solidFill>
                <a:effectLst/>
                <a:uFillTx/>
                <a:latin typeface="Aptos"/>
              </a:rPr>
              <a:t>LIVE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Text 6"/>
          <p:cNvSpPr/>
          <p:nvPr/>
        </p:nvSpPr>
        <p:spPr>
          <a:xfrm>
            <a:off x="1618560" y="1618560"/>
            <a:ext cx="21027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5000"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193238"/>
                </a:solidFill>
                <a:effectLst/>
                <a:uFillTx/>
                <a:latin typeface="Aptos"/>
              </a:rPr>
              <a:t>Real-time recognition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Text 7"/>
          <p:cNvSpPr/>
          <p:nvPr/>
        </p:nvSpPr>
        <p:spPr>
          <a:xfrm>
            <a:off x="795600" y="2176200"/>
            <a:ext cx="29988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62747a"/>
                </a:solidFill>
                <a:effectLst/>
                <a:uFillTx/>
                <a:latin typeface="Aptos"/>
              </a:rPr>
              <a:t>Identify registered users from a live camera feed.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Shape 8"/>
          <p:cNvSpPr/>
          <p:nvPr/>
        </p:nvSpPr>
        <p:spPr>
          <a:xfrm>
            <a:off x="4389120" y="1417320"/>
            <a:ext cx="3428640" cy="1627200"/>
          </a:xfrm>
          <a:prstGeom prst="roundRect">
            <a:avLst>
              <a:gd name="adj" fmla="val 2809"/>
            </a:avLst>
          </a:prstGeom>
          <a:solidFill>
            <a:srgbClr val="ffffff"/>
          </a:solidFill>
          <a:ln w="12700">
            <a:solidFill>
              <a:srgbClr val="d6e2e5"/>
            </a:solidFill>
            <a:round/>
          </a:ln>
          <a:effectLst>
            <a:outerShdw algn="bl" blurRad="38160" dir="2700000" dist="50402" kx="0" ky="0" rotWithShape="0" sx="100000" sy="100000">
              <a:srgbClr val="142428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Shape 9"/>
          <p:cNvSpPr/>
          <p:nvPr/>
        </p:nvSpPr>
        <p:spPr>
          <a:xfrm>
            <a:off x="4590360" y="1618560"/>
            <a:ext cx="658080" cy="310680"/>
          </a:xfrm>
          <a:prstGeom prst="roundRect">
            <a:avLst>
              <a:gd name="adj" fmla="val 17647"/>
            </a:avLst>
          </a:prstGeom>
          <a:solidFill>
            <a:srgbClr val="ddf7f8"/>
          </a:solidFill>
          <a:ln w="12700">
            <a:solidFill>
              <a:srgbClr val="ddf7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 10"/>
          <p:cNvSpPr/>
          <p:nvPr/>
        </p:nvSpPr>
        <p:spPr>
          <a:xfrm>
            <a:off x="4663440" y="1686960"/>
            <a:ext cx="51156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71" strike="noStrike" u="none">
                <a:solidFill>
                  <a:srgbClr val="137b86"/>
                </a:solidFill>
                <a:effectLst/>
                <a:uFillTx/>
                <a:latin typeface="Aptos"/>
              </a:rPr>
              <a:t>AUTO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Text 11"/>
          <p:cNvSpPr/>
          <p:nvPr/>
        </p:nvSpPr>
        <p:spPr>
          <a:xfrm>
            <a:off x="5413320" y="1618560"/>
            <a:ext cx="21027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193238"/>
                </a:solidFill>
                <a:effectLst/>
                <a:uFillTx/>
                <a:latin typeface="Aptos"/>
              </a:rPr>
              <a:t>Automatic marking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Text 12"/>
          <p:cNvSpPr/>
          <p:nvPr/>
        </p:nvSpPr>
        <p:spPr>
          <a:xfrm>
            <a:off x="4590360" y="2176200"/>
            <a:ext cx="29988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62747a"/>
                </a:solidFill>
                <a:effectLst/>
                <a:uFillTx/>
                <a:latin typeface="Aptos"/>
              </a:rPr>
              <a:t>Create attendance without manual name calling.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Shape 13"/>
          <p:cNvSpPr/>
          <p:nvPr/>
        </p:nvSpPr>
        <p:spPr>
          <a:xfrm>
            <a:off x="8183880" y="1417320"/>
            <a:ext cx="3428640" cy="1627200"/>
          </a:xfrm>
          <a:prstGeom prst="roundRect">
            <a:avLst>
              <a:gd name="adj" fmla="val 2809"/>
            </a:avLst>
          </a:prstGeom>
          <a:solidFill>
            <a:srgbClr val="ffffff"/>
          </a:solidFill>
          <a:ln w="12700">
            <a:solidFill>
              <a:srgbClr val="d6e2e5"/>
            </a:solidFill>
            <a:round/>
          </a:ln>
          <a:effectLst>
            <a:outerShdw algn="bl" blurRad="38160" dir="2700000" dist="50402" kx="0" ky="0" rotWithShape="0" sx="100000" sy="100000">
              <a:srgbClr val="142428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Shape 14"/>
          <p:cNvSpPr/>
          <p:nvPr/>
        </p:nvSpPr>
        <p:spPr>
          <a:xfrm>
            <a:off x="8385120" y="1618560"/>
            <a:ext cx="658080" cy="310680"/>
          </a:xfrm>
          <a:prstGeom prst="roundRect">
            <a:avLst>
              <a:gd name="adj" fmla="val 17647"/>
            </a:avLst>
          </a:prstGeom>
          <a:solidFill>
            <a:srgbClr val="ddf7f8"/>
          </a:solidFill>
          <a:ln w="12700">
            <a:solidFill>
              <a:srgbClr val="ddf7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Text 15"/>
          <p:cNvSpPr/>
          <p:nvPr/>
        </p:nvSpPr>
        <p:spPr>
          <a:xfrm>
            <a:off x="8458200" y="1686960"/>
            <a:ext cx="51156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71" strike="noStrike" u="none">
                <a:solidFill>
                  <a:srgbClr val="137b86"/>
                </a:solidFill>
                <a:effectLst/>
                <a:uFillTx/>
                <a:latin typeface="Aptos"/>
              </a:rPr>
              <a:t>TIME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Text 16"/>
          <p:cNvSpPr/>
          <p:nvPr/>
        </p:nvSpPr>
        <p:spPr>
          <a:xfrm>
            <a:off x="9208080" y="1618560"/>
            <a:ext cx="21027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193238"/>
                </a:solidFill>
                <a:effectLst/>
                <a:uFillTx/>
                <a:latin typeface="Aptos"/>
              </a:rPr>
              <a:t>Date &amp; time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Text 17"/>
          <p:cNvSpPr/>
          <p:nvPr/>
        </p:nvSpPr>
        <p:spPr>
          <a:xfrm>
            <a:off x="8385120" y="2176200"/>
            <a:ext cx="29988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62747a"/>
                </a:solidFill>
                <a:effectLst/>
                <a:uFillTx/>
                <a:latin typeface="Aptos"/>
              </a:rPr>
              <a:t>Keep a timestamp for every verified entry.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Shape 18"/>
          <p:cNvSpPr/>
          <p:nvPr/>
        </p:nvSpPr>
        <p:spPr>
          <a:xfrm>
            <a:off x="594360" y="3374280"/>
            <a:ext cx="3428640" cy="1627200"/>
          </a:xfrm>
          <a:prstGeom prst="roundRect">
            <a:avLst>
              <a:gd name="adj" fmla="val 2809"/>
            </a:avLst>
          </a:prstGeom>
          <a:solidFill>
            <a:srgbClr val="ffffff"/>
          </a:solidFill>
          <a:ln w="12700">
            <a:solidFill>
              <a:srgbClr val="d6e2e5"/>
            </a:solidFill>
            <a:round/>
          </a:ln>
          <a:effectLst>
            <a:outerShdw algn="bl" blurRad="38160" dir="2700000" dist="50402" kx="0" ky="0" rotWithShape="0" sx="100000" sy="100000">
              <a:srgbClr val="142428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Shape 19"/>
          <p:cNvSpPr/>
          <p:nvPr/>
        </p:nvSpPr>
        <p:spPr>
          <a:xfrm>
            <a:off x="795600" y="3575160"/>
            <a:ext cx="658080" cy="310680"/>
          </a:xfrm>
          <a:prstGeom prst="roundRect">
            <a:avLst>
              <a:gd name="adj" fmla="val 17647"/>
            </a:avLst>
          </a:prstGeom>
          <a:solidFill>
            <a:srgbClr val="ddf7f8"/>
          </a:solidFill>
          <a:ln w="12700">
            <a:solidFill>
              <a:srgbClr val="ddf7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Text 20"/>
          <p:cNvSpPr/>
          <p:nvPr/>
        </p:nvSpPr>
        <p:spPr>
          <a:xfrm>
            <a:off x="868680" y="3643920"/>
            <a:ext cx="51156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71" strike="noStrike" u="none">
                <a:solidFill>
                  <a:srgbClr val="137b86"/>
                </a:solidFill>
                <a:effectLst/>
                <a:uFillTx/>
                <a:latin typeface="Aptos"/>
              </a:rPr>
              <a:t>DATA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Text 21"/>
          <p:cNvSpPr/>
          <p:nvPr/>
        </p:nvSpPr>
        <p:spPr>
          <a:xfrm>
            <a:off x="1618560" y="3575160"/>
            <a:ext cx="21027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193238"/>
                </a:solidFill>
                <a:effectLst/>
                <a:uFillTx/>
                <a:latin typeface="Aptos"/>
              </a:rPr>
              <a:t>Central records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Text 22"/>
          <p:cNvSpPr/>
          <p:nvPr/>
        </p:nvSpPr>
        <p:spPr>
          <a:xfrm>
            <a:off x="795600" y="4133160"/>
            <a:ext cx="29988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62747a"/>
                </a:solidFill>
                <a:effectLst/>
                <a:uFillTx/>
                <a:latin typeface="Aptos"/>
              </a:rPr>
              <a:t>Store profiles and attendance in one database.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Shape 23"/>
          <p:cNvSpPr/>
          <p:nvPr/>
        </p:nvSpPr>
        <p:spPr>
          <a:xfrm>
            <a:off x="4389120" y="3374280"/>
            <a:ext cx="3428640" cy="1627200"/>
          </a:xfrm>
          <a:prstGeom prst="roundRect">
            <a:avLst>
              <a:gd name="adj" fmla="val 2809"/>
            </a:avLst>
          </a:prstGeom>
          <a:solidFill>
            <a:srgbClr val="ffffff"/>
          </a:solidFill>
          <a:ln w="12700">
            <a:solidFill>
              <a:srgbClr val="d6e2e5"/>
            </a:solidFill>
            <a:round/>
          </a:ln>
          <a:effectLst>
            <a:outerShdw algn="bl" blurRad="38160" dir="2700000" dist="50402" kx="0" ky="0" rotWithShape="0" sx="100000" sy="100000">
              <a:srgbClr val="142428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Shape 24"/>
          <p:cNvSpPr/>
          <p:nvPr/>
        </p:nvSpPr>
        <p:spPr>
          <a:xfrm>
            <a:off x="4590360" y="3575160"/>
            <a:ext cx="658080" cy="310680"/>
          </a:xfrm>
          <a:prstGeom prst="roundRect">
            <a:avLst>
              <a:gd name="adj" fmla="val 17647"/>
            </a:avLst>
          </a:prstGeom>
          <a:solidFill>
            <a:srgbClr val="ddf7f8"/>
          </a:solidFill>
          <a:ln w="12700">
            <a:solidFill>
              <a:srgbClr val="ddf7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Text 25"/>
          <p:cNvSpPr/>
          <p:nvPr/>
        </p:nvSpPr>
        <p:spPr>
          <a:xfrm>
            <a:off x="4663440" y="3643920"/>
            <a:ext cx="51156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71" strike="noStrike" u="none">
                <a:solidFill>
                  <a:srgbClr val="137b86"/>
                </a:solidFill>
                <a:effectLst/>
                <a:uFillTx/>
                <a:latin typeface="Aptos"/>
              </a:rPr>
              <a:t>ADMIN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Text 26"/>
          <p:cNvSpPr/>
          <p:nvPr/>
        </p:nvSpPr>
        <p:spPr>
          <a:xfrm>
            <a:off x="5413320" y="3575160"/>
            <a:ext cx="21027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77500" lnSpcReduction="1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193238"/>
                </a:solidFill>
                <a:effectLst/>
                <a:uFillTx/>
                <a:latin typeface="Aptos"/>
              </a:rPr>
              <a:t>Management dashboard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Text 27"/>
          <p:cNvSpPr/>
          <p:nvPr/>
        </p:nvSpPr>
        <p:spPr>
          <a:xfrm>
            <a:off x="4590360" y="4133160"/>
            <a:ext cx="29988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62747a"/>
                </a:solidFill>
                <a:effectLst/>
                <a:uFillTx/>
                <a:latin typeface="Aptos"/>
              </a:rPr>
              <a:t>Manage students and review attendance status.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Shape 28"/>
          <p:cNvSpPr/>
          <p:nvPr/>
        </p:nvSpPr>
        <p:spPr>
          <a:xfrm>
            <a:off x="8183880" y="3374280"/>
            <a:ext cx="3428640" cy="1627200"/>
          </a:xfrm>
          <a:prstGeom prst="roundRect">
            <a:avLst>
              <a:gd name="adj" fmla="val 2809"/>
            </a:avLst>
          </a:prstGeom>
          <a:solidFill>
            <a:srgbClr val="ffffff"/>
          </a:solidFill>
          <a:ln w="12700">
            <a:solidFill>
              <a:srgbClr val="d6e2e5"/>
            </a:solidFill>
            <a:round/>
          </a:ln>
          <a:effectLst>
            <a:outerShdw algn="bl" blurRad="38160" dir="2700000" dist="50402" kx="0" ky="0" rotWithShape="0" sx="100000" sy="100000">
              <a:srgbClr val="142428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Shape 29"/>
          <p:cNvSpPr/>
          <p:nvPr/>
        </p:nvSpPr>
        <p:spPr>
          <a:xfrm>
            <a:off x="8385120" y="3575160"/>
            <a:ext cx="658080" cy="310680"/>
          </a:xfrm>
          <a:prstGeom prst="roundRect">
            <a:avLst>
              <a:gd name="adj" fmla="val 17647"/>
            </a:avLst>
          </a:prstGeom>
          <a:solidFill>
            <a:srgbClr val="f2c14e"/>
          </a:solidFill>
          <a:ln w="12700">
            <a:solidFill>
              <a:srgbClr val="f2c1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Text 30"/>
          <p:cNvSpPr/>
          <p:nvPr/>
        </p:nvSpPr>
        <p:spPr>
          <a:xfrm>
            <a:off x="8458200" y="3643920"/>
            <a:ext cx="51156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71" strike="noStrike" u="none">
                <a:solidFill>
                  <a:srgbClr val="142428"/>
                </a:solidFill>
                <a:effectLst/>
                <a:uFillTx/>
                <a:latin typeface="Aptos"/>
              </a:rPr>
              <a:t>REPORT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Text 31"/>
          <p:cNvSpPr/>
          <p:nvPr/>
        </p:nvSpPr>
        <p:spPr>
          <a:xfrm>
            <a:off x="9208080" y="3575160"/>
            <a:ext cx="21027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193238"/>
                </a:solidFill>
                <a:effectLst/>
                <a:uFillTx/>
                <a:latin typeface="Aptos"/>
              </a:rPr>
              <a:t>Reports &amp; analytics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Text 32"/>
          <p:cNvSpPr/>
          <p:nvPr/>
        </p:nvSpPr>
        <p:spPr>
          <a:xfrm>
            <a:off x="8385120" y="4133160"/>
            <a:ext cx="29988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62747a"/>
                </a:solidFill>
                <a:effectLst/>
                <a:uFillTx/>
                <a:latin typeface="Aptos"/>
              </a:rPr>
              <a:t>Review records and attendance percentages.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Shape 33"/>
          <p:cNvSpPr/>
          <p:nvPr/>
        </p:nvSpPr>
        <p:spPr>
          <a:xfrm>
            <a:off x="594360" y="5486400"/>
            <a:ext cx="10963440" cy="438480"/>
          </a:xfrm>
          <a:prstGeom prst="roundRect">
            <a:avLst>
              <a:gd name="adj" fmla="val 8333"/>
            </a:avLst>
          </a:prstGeom>
          <a:solidFill>
            <a:srgbClr val="142428"/>
          </a:solidFill>
          <a:ln w="12700">
            <a:solidFill>
              <a:srgbClr val="1424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3" name="Text 34"/>
          <p:cNvSpPr/>
          <p:nvPr/>
        </p:nvSpPr>
        <p:spPr>
          <a:xfrm>
            <a:off x="868680" y="5605200"/>
            <a:ext cx="104238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2500" lnSpcReduction="19999"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Practical result: less time spent marking attendance, fewer manual errors, and clearer administrative visibility.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Text 35"/>
          <p:cNvSpPr/>
          <p:nvPr/>
        </p:nvSpPr>
        <p:spPr>
          <a:xfrm>
            <a:off x="502920" y="6419160"/>
            <a:ext cx="96008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2747a"/>
                </a:solidFill>
                <a:effectLst/>
                <a:uFillTx/>
                <a:latin typeface="Aptos"/>
              </a:rPr>
              <a:t>Face-based verification also helps reduce proxy attendance.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PlaceHolder 1"/>
          <p:cNvSpPr>
            <a:spLocks noGrp="1"/>
          </p:cNvSpPr>
          <p:nvPr>
            <p:ph type="sldNum" idx="12"/>
          </p:nvPr>
        </p:nvSpPr>
        <p:spPr>
          <a:xfrm>
            <a:off x="11430000" y="6446520"/>
            <a:ext cx="273960" cy="18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900" strike="noStrike" u="none">
                <a:solidFill>
                  <a:srgbClr val="62747a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C67F5D2-8875-4FE6-BAAB-2EDED96A2A0F}" type="slidenum">
              <a:rPr b="0" lang="en-US" sz="900" strike="noStrike" u="none">
                <a:solidFill>
                  <a:srgbClr val="62747a"/>
                </a:solidFill>
                <a:effectLst/>
                <a:uFillTx/>
                <a:latin typeface="Aptos"/>
                <a:ea typeface="Aptos"/>
              </a:rPr>
              <a:t>&lt;number&gt;</a:t>
            </a:fld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42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Shape 0"/>
          <p:cNvSpPr/>
          <p:nvPr/>
        </p:nvSpPr>
        <p:spPr>
          <a:xfrm rot="1200000">
            <a:off x="8046720" y="-1005840"/>
            <a:ext cx="5303160" cy="5303160"/>
          </a:xfrm>
          <a:prstGeom prst="arc">
            <a:avLst>
              <a:gd name="adj1" fmla="val 16200000"/>
              <a:gd name="adj2" fmla="val 0"/>
            </a:avLst>
          </a:prstGeom>
          <a:noFill/>
          <a:ln w="50800">
            <a:solidFill>
              <a:srgbClr val="21c4d6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7" name="Shape 1"/>
          <p:cNvSpPr/>
          <p:nvPr/>
        </p:nvSpPr>
        <p:spPr>
          <a:xfrm>
            <a:off x="9006840" y="137160"/>
            <a:ext cx="2377080" cy="2377080"/>
          </a:xfrm>
          <a:prstGeom prst="ellipse">
            <a:avLst/>
          </a:prstGeom>
          <a:solidFill>
            <a:srgbClr val="20363b"/>
          </a:solidFill>
          <a:ln w="25400">
            <a:solidFill>
              <a:srgbClr val="21c4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8" name="Shape 2"/>
          <p:cNvSpPr/>
          <p:nvPr/>
        </p:nvSpPr>
        <p:spPr>
          <a:xfrm rot="1800000">
            <a:off x="9418320" y="548640"/>
            <a:ext cx="1554120" cy="1554120"/>
          </a:xfrm>
          <a:prstGeom prst="arc">
            <a:avLst>
              <a:gd name="adj1" fmla="val 16200000"/>
              <a:gd name="adj2" fmla="val 0"/>
            </a:avLst>
          </a:prstGeom>
          <a:noFill/>
          <a:ln w="38100">
            <a:solidFill>
              <a:srgbClr val="21c4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9" name="Shape 3"/>
          <p:cNvSpPr/>
          <p:nvPr/>
        </p:nvSpPr>
        <p:spPr>
          <a:xfrm>
            <a:off x="9784080" y="1325880"/>
            <a:ext cx="822960" cy="360"/>
          </a:xfrm>
          <a:prstGeom prst="line">
            <a:avLst/>
          </a:prstGeom>
          <a:ln w="25400">
            <a:solidFill>
              <a:srgbClr val="21c4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0" name="Shape 4"/>
          <p:cNvSpPr/>
          <p:nvPr/>
        </p:nvSpPr>
        <p:spPr>
          <a:xfrm>
            <a:off x="713160" y="658440"/>
            <a:ext cx="2239920" cy="310680"/>
          </a:xfrm>
          <a:prstGeom prst="roundRect">
            <a:avLst>
              <a:gd name="adj" fmla="val 17647"/>
            </a:avLst>
          </a:prstGeom>
          <a:solidFill>
            <a:srgbClr val="21c4d6"/>
          </a:solidFill>
          <a:ln w="12700">
            <a:solidFill>
              <a:srgbClr val="21c4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Text 5"/>
          <p:cNvSpPr/>
          <p:nvPr/>
        </p:nvSpPr>
        <p:spPr>
          <a:xfrm>
            <a:off x="786240" y="726840"/>
            <a:ext cx="209376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71" strike="noStrike" u="none">
                <a:solidFill>
                  <a:srgbClr val="142428"/>
                </a:solidFill>
                <a:effectLst/>
                <a:uFillTx/>
                <a:latin typeface="Aptos"/>
              </a:rPr>
              <a:t>SMART ATTENDANCE SYSTEM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2" name="Text 6"/>
          <p:cNvSpPr/>
          <p:nvPr/>
        </p:nvSpPr>
        <p:spPr>
          <a:xfrm>
            <a:off x="713160" y="1463040"/>
            <a:ext cx="63090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8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Thank You</a:t>
            </a:r>
            <a:endParaRPr b="0" lang="en-US" sz="4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3" name="Text 7"/>
          <p:cNvSpPr/>
          <p:nvPr/>
        </p:nvSpPr>
        <p:spPr>
          <a:xfrm>
            <a:off x="713160" y="2541960"/>
            <a:ext cx="47545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trike="noStrike" u="none">
                <a:solidFill>
                  <a:srgbClr val="21c4d6"/>
                </a:solidFill>
                <a:effectLst/>
                <a:uFillTx/>
                <a:latin typeface="Aptos"/>
              </a:rPr>
              <a:t>Questions &amp; Discussion</a:t>
            </a:r>
            <a:endParaRPr b="0" lang="en-US" sz="2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4" name="Text 8"/>
          <p:cNvSpPr/>
          <p:nvPr/>
        </p:nvSpPr>
        <p:spPr>
          <a:xfrm>
            <a:off x="713160" y="3310200"/>
            <a:ext cx="580608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rgbClr val="c2d4d7"/>
                </a:solidFill>
                <a:effectLst/>
                <a:uFillTx/>
                <a:latin typeface="Aptos"/>
              </a:rPr>
              <a:t>A practical step toward faster, more reliable and accountable attendance management.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5" name="Shape 9"/>
          <p:cNvSpPr/>
          <p:nvPr/>
        </p:nvSpPr>
        <p:spPr>
          <a:xfrm>
            <a:off x="713160" y="4800600"/>
            <a:ext cx="5394960" cy="360"/>
          </a:xfrm>
          <a:prstGeom prst="line">
            <a:avLst/>
          </a:prstGeom>
          <a:ln w="12700">
            <a:solidFill>
              <a:srgbClr val="4c68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6" name="Text 10"/>
          <p:cNvSpPr/>
          <p:nvPr/>
        </p:nvSpPr>
        <p:spPr>
          <a:xfrm>
            <a:off x="713160" y="5074920"/>
            <a:ext cx="5486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Camera  →  Recognition  →  Verification  →  Record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7" name="Text 11"/>
          <p:cNvSpPr/>
          <p:nvPr/>
        </p:nvSpPr>
        <p:spPr>
          <a:xfrm>
            <a:off x="10789920" y="6309360"/>
            <a:ext cx="731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a8c0c4"/>
                </a:solidFill>
                <a:effectLst/>
                <a:uFillTx/>
                <a:latin typeface="Aptos"/>
              </a:rPr>
              <a:t>10 / 10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LibreOffice/25.2.6.2$Linux_X86_64 LibreOffice_project/520$Build-2</Application>
  <AppVersion>15.0000</AppVersion>
  <Words>0</Words>
  <Paragraphs>0</Paragraphs>
  <Company>Academic Project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2026-09-23T04:10:44Z</dcterms:created>
  <dc:creator>Harshitha Bollineni</dc:creator>
  <dc:description/>
  <dc:language>en-US</dc:language>
  <cp:lastModifiedBy>Harshitha Bollineni</cp:lastModifiedBy>
  <dcterms:modified xsi:type="dcterms:W3CDTF">2026-09-23T04:10:44Z</dcterms:modified>
  <cp:revision>1</cp:revision>
  <dc:subject>DSB and DB Project Presentation</dc:subject>
  <dc:title>Smart Attendance System Using Facial Recognition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10</vt:r8>
  </property>
  <property fmtid="{D5CDD505-2E9C-101B-9397-08002B2CF9AE}" pid="3" name="PresentationFormat">
    <vt:lpwstr>On-screen Show (16:9)</vt:lpwstr>
  </property>
  <property fmtid="{D5CDD505-2E9C-101B-9397-08002B2CF9AE}" pid="4" name="Slides">
    <vt:r8>10</vt:r8>
  </property>
</Properties>
</file>